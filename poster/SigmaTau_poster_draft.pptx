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SigmaTau.jl: time-and-frequency stability analysis in Julia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1645920"/>
            <a:ext cx="34747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estimator family, per-τ noise ID, EDF and χ² intervals in one call · matches Stable32 and allantools · modified-total kernels 1,600 to 4,200× faster · new Monte-Carlo-calibrated MHTOTDEV</a:t>
            </a:r>
            <a:endParaRPr lang="en-US" sz="28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   ·   Julia ≥ 1.11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123424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API: every estimator, noise ID, EDF, χ² bounds</a:t>
            </a:r>
            <a:endParaRPr lang="en-US" sz="3300" dirty="0"/>
          </a:p>
        </p:txBody>
      </p:sp>
      <p:sp>
        <p:nvSpPr>
          <p:cNvPr id="8" name="Bullets"/>
          <p:cNvSpPr txBox="1"/>
          <p:nvPr/>
        </p:nvSpPr>
        <p:spPr>
          <a:xfrm>
            <a:off x="1234440" y="5218557"/>
            <a:ext cx="10454640" cy="456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ADEV/MDEV/TDEV; HDEV/MHDEV/HTDEV; TOTDEV, MTOTDEV, TTOTDEV, HTOTDEV, MHTOTDEV; Thêo1/ThêoBR/ThêoH; MTIE, TIE rms, PDEV; DADEV/DHDEV;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ℒ(f); calibrated power-law synthesis.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τ: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σ, noise type (lag-1; B1/R(n) fallback), Greenhall–Riley EDF, 68.3 % χ² bounds (switchable). Total-family bias correction default on,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or frequency, any τ grid; read/detrend/gap-fill/outlier tools; plain-text round-trip.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multi-clock: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ADEV/MDEV/HDEV/MHDEV in O(1) per sample per τ; ring buffer ≤ 4·m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+ 1 samples; ≤ 2 × 10⁻¹¹ relative to batch kernels on samples seen so far (Dobrogowski–Kasznia 2007, extended to third differences). N-cornered hat, N ≥ 3.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4440" y="9892665"/>
            <a:ext cx="10454640" cy="1215390"/>
          </a:xfrm>
          <a:prstGeom prst="roundRect">
            <a:avLst>
              <a:gd name="adj" fmla="val 6019"/>
            </a:avLst>
          </a:prstGeom>
          <a:solidFill>
            <a:srgbClr val="F4F4F2"/>
          </a:solidFill>
          <a:ln w="9525">
            <a:solidFill>
              <a:srgbClr val="D9D4D0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1417320" y="10002393"/>
            <a:ext cx="10088880" cy="995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read_phase("clock.DAT"; tau0 = 1.0)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adev(p)            # τ grid, σ_y, noise type, EDF, CI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suite = stability(p; devs = (:adev, :mdev, :hdev, :mhtotdev))</a:t>
            </a:r>
            <a:endParaRPr lang="en-US" sz="1900" dirty="0"/>
          </a:p>
        </p:txBody>
      </p:sp>
      <p:graphicFrame>
        <p:nvGraphicFramePr>
          <p:cNvPr id="2" name="Feature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11245215"/>
          <a:ext cx="10454640" cy="914400"/>
        </p:xfrm>
        <a:graphic>
          <a:graphicData uri="http://schemas.openxmlformats.org/drawingml/2006/table">
            <a:tbl>
              <a:tblPr/>
              <a:tblGrid>
                <a:gridCol w="3301465"/>
                <a:gridCol w="2109269"/>
                <a:gridCol w="2109269"/>
                <a:gridCol w="293463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allantools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SigmaTau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GUI, closed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library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 library + desktop app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 intervals with per-τ noise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Total-family bias correction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TOTDEV, HTOTDEV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five, switchable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Hadamard Class (MHDEV, HTDEV, MHTOTDEV)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/ ThêoBR / ThêoH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only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(time-resolved)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accumulators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HDEV, 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MDEV, HDEV, MHDEV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N-cornered hat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≥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Multithreaded kernels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914400" y="16960215"/>
            <a:ext cx="11094720" cy="882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1234440" y="17280255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Deviation, noise type and χ² interval at every τ</a:t>
            </a:r>
            <a:endParaRPr lang="en-US" sz="3300" dirty="0"/>
          </a:p>
        </p:txBody>
      </p:sp>
      <p:pic>
        <p:nvPicPr>
          <p:cNvPr id="14" name="F1_suite" descr="/home/ian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556" y="17972532"/>
            <a:ext cx="9352408" cy="6766560"/>
          </a:xfrm>
          <a:prstGeom prst="rect">
            <a:avLst/>
          </a:prstGeom>
        </p:spPr>
      </p:pic>
      <p:sp>
        <p:nvSpPr>
          <p:cNvPr id="15" name="Caption"/>
          <p:cNvSpPr txBox="1"/>
          <p:nvPr/>
        </p:nvSpPr>
        <p:spPr>
          <a:xfrm>
            <a:off x="1234440" y="24848820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Shipped 8192-point record, τ₀ = 1 s, one call: five estimators, per-τ noise type (top strip), 68.3 % χ² intervals. TOTDEV reaches T/2, MHTOTDEV T/4, tighter long-τ bounds.</a:t>
            </a:r>
            <a:endParaRPr lang="en-US" sz="1950" dirty="0"/>
          </a:p>
        </p:txBody>
      </p:sp>
      <p:sp>
        <p:nvSpPr>
          <p:cNvPr id="16" name="Shape 12"/>
          <p:cNvSpPr/>
          <p:nvPr/>
        </p:nvSpPr>
        <p:spPr>
          <a:xfrm>
            <a:off x="12740640" y="4206240"/>
            <a:ext cx="11094720" cy="807453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Stable32 to printed precision, allantools to machine precision</a:t>
            </a:r>
            <a:endParaRPr lang="en-US" sz="3300" dirty="0"/>
          </a:p>
        </p:txBody>
      </p:sp>
      <p:sp>
        <p:nvSpPr>
          <p:cNvPr id="18" name="Body"/>
          <p:cNvSpPr txBox="1"/>
          <p:nvPr/>
        </p:nvSpPr>
        <p:spPr>
          <a:xfrm>
            <a:off x="13060680" y="5700522"/>
            <a:ext cx="1045464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fixture: 8192-point phase record, Stable32 and allantools outputs. ADEV/MDEV/TDEV/HDEV: ≤ 0.005 % vs Stable32 (five significant figures); ≤ 1 × 10⁻¹³ vs allantools. Raw total kernels: ≤ 4.4 × 10⁻¹⁵ vs allantools. Confidence bounds: ≤ 0.05 % vs Stable32 at 11 of 12 τ.</a:t>
            </a:r>
            <a:endParaRPr lang="en-US" sz="2400" dirty="0"/>
          </a:p>
        </p:txBody>
      </p:sp>
      <p:pic>
        <p:nvPicPr>
          <p:cNvPr id="19" name="F2_validation" descr="/home/ian/SigmaTau.jl/poster/figures/F2_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996" y="7303770"/>
            <a:ext cx="6984008" cy="3931920"/>
          </a:xfrm>
          <a:prstGeom prst="rect">
            <a:avLst/>
          </a:prstGeom>
        </p:spPr>
      </p:pic>
      <p:sp>
        <p:nvSpPr>
          <p:cNvPr id="20" name="Caption"/>
          <p:cNvSpPr txBox="1"/>
          <p:nvPr/>
        </p:nvSpPr>
        <p:spPr>
          <a:xfrm>
            <a:off x="13060680" y="11345418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Seven estimators vs Stable32, every τ. Filled: ≤ 5 × 10⁻⁵ printed-precision floor. Open: τ = 256 s, Stable32 α = +2, detrended α = 0. MTOTDEV raw.</a:t>
            </a:r>
            <a:endParaRPr lang="en-US" sz="1950" dirty="0"/>
          </a:p>
        </p:txBody>
      </p:sp>
      <p:sp>
        <p:nvSpPr>
          <p:cNvPr id="21" name="Shape 16"/>
          <p:cNvSpPr/>
          <p:nvPr/>
        </p:nvSpPr>
        <p:spPr>
          <a:xfrm>
            <a:off x="12740640" y="12692253"/>
            <a:ext cx="11094720" cy="7409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13060680" y="1301229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10⁵-sample modified totals: 0.46 s vs 30 min</a:t>
            </a:r>
            <a:endParaRPr lang="en-US" sz="3300" dirty="0"/>
          </a:p>
        </p:txBody>
      </p:sp>
      <p:sp>
        <p:nvSpPr>
          <p:cNvPr id="23" name="Body"/>
          <p:cNvSpPr txBox="1"/>
          <p:nvPr/>
        </p:nvSpPr>
        <p:spPr>
          <a:xfrm>
            <a:off x="13060680" y="13704570"/>
            <a:ext cx="1045464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406 763-sample phase record, kernel-only timing, same samples, τ grid and statistic; allantools single-threaded (no parallel path). MTOTDEV 0.461 s vs 1 810 s (3,926×); HTOTDEV 0.461 s vs 1 926 s (4,178×). Reflected extension streamed per thread; window sum split across threads.</a:t>
            </a:r>
            <a:endParaRPr lang="en-US" sz="2400" dirty="0"/>
          </a:p>
        </p:txBody>
      </p:sp>
      <p:pic>
        <p:nvPicPr>
          <p:cNvPr id="24" name="F3_speed" descr="/home/ian/SigmaTau.jl/poster/figures/F3_spe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0919" y="15307818"/>
            <a:ext cx="6234161" cy="3749040"/>
          </a:xfrm>
          <a:prstGeom prst="rect">
            <a:avLst/>
          </a:prstGeom>
        </p:spPr>
      </p:pic>
      <p:sp>
        <p:nvSpPr>
          <p:cNvPr id="25" name="Caption"/>
          <p:cNvSpPr txBox="1"/>
          <p:nvPr/>
        </p:nvSpPr>
        <p:spPr>
          <a:xfrm>
            <a:off x="13060680" y="19166586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Speed-up per kernel, N = 25 000 white-PM record (bench/), 12-thread workstation; diamonds: 4-core container run. Ratios portable; absolute times machine-dependent.</a:t>
            </a:r>
            <a:endParaRPr lang="en-US" sz="1950" dirty="0"/>
          </a:p>
        </p:txBody>
      </p:sp>
      <p:sp>
        <p:nvSpPr>
          <p:cNvPr id="26" name="Shape 20"/>
          <p:cNvSpPr/>
          <p:nvPr/>
        </p:nvSpPr>
        <p:spPr>
          <a:xfrm>
            <a:off x="12740640" y="20513421"/>
            <a:ext cx="11094720" cy="6365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7" name="Heading"/>
          <p:cNvSpPr txBox="1"/>
          <p:nvPr/>
        </p:nvSpPr>
        <p:spPr>
          <a:xfrm>
            <a:off x="13060680" y="2083346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explorer: the whole workflow without code</a:t>
            </a:r>
            <a:endParaRPr lang="en-US" sz="3300" dirty="0"/>
          </a:p>
        </p:txBody>
      </p:sp>
      <p:pic>
        <p:nvPicPr>
          <p:cNvPr id="28" name="F8_explorer" descr="/home/ian/SigmaTau.jl/poster/figures/F8_explor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7872" y="21525738"/>
            <a:ext cx="6420255" cy="4023360"/>
          </a:xfrm>
          <a:prstGeom prst="rect">
            <a:avLst/>
          </a:prstGeom>
        </p:spPr>
      </p:pic>
      <p:sp>
        <p:nvSpPr>
          <p:cNvPr id="29" name="Caption"/>
          <p:cNvSpPr txBox="1"/>
          <p:nvPr/>
        </p:nvSpPr>
        <p:spPr>
          <a:xfrm>
            <a:off x="13060680" y="25658826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GLMakie desktop app: load or synthesize a record; preprocessing, estimators, τ grid, confidence level;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curves with χ² intervals, per-τ table, spectra, dynamic map; PNG/PDF/SVG and TSV export.</a:t>
            </a:r>
            <a:endParaRPr lang="en-US" sz="1950" dirty="0"/>
          </a:p>
        </p:txBody>
      </p:sp>
      <p:sp>
        <p:nvSpPr>
          <p:cNvPr id="30" name="Shape 23"/>
          <p:cNvSpPr/>
          <p:nvPr/>
        </p:nvSpPr>
        <p:spPr>
          <a:xfrm>
            <a:off x="24566880" y="4206240"/>
            <a:ext cx="11094720" cy="39973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1" name="Heading"/>
          <p:cNvSpPr txBox="1"/>
          <p:nvPr/>
        </p:nvSpPr>
        <p:spPr>
          <a:xfrm>
            <a:off x="24886920" y="45262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new total estimator, calibrated by Monte Carlo</a:t>
            </a:r>
            <a:endParaRPr lang="en-US" sz="3300" dirty="0"/>
          </a:p>
        </p:txBody>
      </p:sp>
      <p:sp>
        <p:nvSpPr>
          <p:cNvPr id="32" name="Body"/>
          <p:cNvSpPr txBox="1"/>
          <p:nvPr/>
        </p:nvSpPr>
        <p:spPr>
          <a:xfrm>
            <a:off x="24886920" y="5218557"/>
            <a:ext cx="1045464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Carlo: α ∈ {+2 … −2}, N ∈ {1024 … 32768}, R = 3000 per cell, one seeded stream per (α, N, r), fit window τ/τ₀ ≥ 16. Bias B = E[MHTOTVAR]/E[MHVAR] vs MHDEV, same realization; EDF from χ² variance relation; bootstrap SE 2.6 %.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Kernel: Greenhall MTOTDEV/HTOTDEV scheme on 4m windows (half-mean slope removal, 3× time-reverse extension, modified third difference) after global least-squares drift removal.</a:t>
            </a:r>
            <a:endParaRPr lang="en-US" sz="2400" dirty="0"/>
          </a:p>
        </p:txBody>
      </p:sp>
      <p:sp>
        <p:nvSpPr>
          <p:cNvPr id="33" name="Shape 26"/>
          <p:cNvSpPr/>
          <p:nvPr/>
        </p:nvSpPr>
        <p:spPr>
          <a:xfrm>
            <a:off x="24566880" y="8615045"/>
            <a:ext cx="11094720" cy="8065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4" name="Heading"/>
          <p:cNvSpPr txBox="1"/>
          <p:nvPr/>
        </p:nvSpPr>
        <p:spPr>
          <a:xfrm>
            <a:off x="24886920" y="8935085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unbiased, red FM reads high; EDF R² ≥ 0.9988</a:t>
            </a:r>
            <a:endParaRPr lang="en-US" sz="3300" dirty="0"/>
          </a:p>
        </p:txBody>
      </p:sp>
      <p:pic>
        <p:nvPicPr>
          <p:cNvPr id="35" name="F4_mhtot_bias" descr="/home/ian/SigmaTau.jl/poster/figures/F4_mhtot_bi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0533" y="9627362"/>
            <a:ext cx="4162934" cy="3566160"/>
          </a:xfrm>
          <a:prstGeom prst="rect">
            <a:avLst/>
          </a:prstGeom>
        </p:spPr>
      </p:pic>
      <p:pic>
        <p:nvPicPr>
          <p:cNvPr id="36" name="F5_mhtot_edf" descr="/home/ian/SigmaTau.jl/poster/figures/F5_mhtot_ed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12116" y="9627362"/>
            <a:ext cx="4168728" cy="3566160"/>
          </a:xfrm>
          <a:prstGeom prst="rect">
            <a:avLst/>
          </a:prstGeom>
        </p:spPr>
      </p:pic>
      <p:sp>
        <p:nvSpPr>
          <p:cNvPr id="37" name="Caption"/>
          <p:cNvSpPr txBox="1"/>
          <p:nvPr/>
        </p:nvSpPr>
        <p:spPr>
          <a:xfrm>
            <a:off x="24886920" y="13303250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Models B = b₀ + b₁ τ/T, ν = b T/τ − c (seed 20260531). Interval indicative only below T/τ ≈ 5–6; σ valid to τ = T/4.</a:t>
            </a:r>
            <a:endParaRPr lang="en-US" sz="1950" dirty="0"/>
          </a:p>
        </p:txBody>
      </p:sp>
      <p:graphicFrame>
        <p:nvGraphicFramePr>
          <p:cNvPr id="3" name="MHTOTDEV coeffici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886920" y="14010005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1.0249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−0.0078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1.6342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3.8334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−0.0630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3.1934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−0.7752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3.3662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2.1678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−5.6243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0.7641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2.4152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29"/>
          <p:cNvSpPr/>
          <p:nvPr/>
        </p:nvSpPr>
        <p:spPr>
          <a:xfrm>
            <a:off x="24566880" y="17091533"/>
            <a:ext cx="11094720" cy="571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0" name="Heading"/>
          <p:cNvSpPr txBox="1"/>
          <p:nvPr/>
        </p:nvSpPr>
        <p:spPr>
          <a:xfrm>
            <a:off x="24886920" y="1741157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DADEV σ(t, τ) map: change located to within one window</a:t>
            </a:r>
            <a:endParaRPr lang="en-US" sz="3300" dirty="0"/>
          </a:p>
        </p:txBody>
      </p:sp>
      <p:pic>
        <p:nvPicPr>
          <p:cNvPr id="41" name="F7_dynamic" descr="/home/ian/SigmaTau.jl/poster/figures/F7_dynami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76338" y="18103850"/>
            <a:ext cx="4675804" cy="3657600"/>
          </a:xfrm>
          <a:prstGeom prst="rect">
            <a:avLst/>
          </a:prstGeom>
        </p:spPr>
      </p:pic>
      <p:sp>
        <p:nvSpPr>
          <p:cNvPr id="42" name="Caption"/>
          <p:cNvSpPr txBox="1"/>
          <p:nvPr/>
        </p:nvSpPr>
        <p:spPr>
          <a:xfrm>
            <a:off x="24886920" y="21871178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6. Synthetic 8191-sample record, τ₀ = 1 s: white FM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s) = 1 × 10⁻¹² first half, then 3 × 10⁻¹² plus flicker FM 1 × 10⁻¹²; window 1024, step 128.</a:t>
            </a:r>
            <a:endParaRPr lang="en-US" sz="1950" dirty="0"/>
          </a:p>
        </p:txBody>
      </p:sp>
      <p:sp>
        <p:nvSpPr>
          <p:cNvPr id="43" name="Shape 32"/>
          <p:cNvSpPr/>
          <p:nvPr/>
        </p:nvSpPr>
        <p:spPr>
          <a:xfrm>
            <a:off x="24566880" y="23218013"/>
            <a:ext cx="11094720" cy="32835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4" name="Heading"/>
          <p:cNvSpPr txBox="1"/>
          <p:nvPr/>
        </p:nvSpPr>
        <p:spPr>
          <a:xfrm>
            <a:off x="24886920" y="23538053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reproducible from the repository</a:t>
            </a:r>
            <a:endParaRPr lang="en-US" sz="3300" dirty="0"/>
          </a:p>
        </p:txBody>
      </p:sp>
      <p:sp>
        <p:nvSpPr>
          <p:cNvPr id="45" name="Bullets"/>
          <p:cNvSpPr txBox="1"/>
          <p:nvPr/>
        </p:nvSpPr>
        <p:spPr>
          <a:xfrm>
            <a:off x="24886920" y="24230330"/>
            <a:ext cx="10454640" cy="193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fixture with Stable32/allantools outputs; per-τ comparison tables; benchmark scripts for both libraries; Monte Carlo harness, seed, tracked fit artifact.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of laboratory Rb-87 clock comparisons; Monte Carlo calibration of the Thêo family and gapped records.</a:t>
            </a:r>
            <a:endParaRPr lang="en-US" sz="2400" dirty="0"/>
          </a:p>
        </p:txBody>
      </p:sp>
      <p:sp>
        <p:nvSpPr>
          <p:cNvPr id="46" name="Shape 35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7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8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14th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9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Documentation: ianlap.github.io/SigmaTau.jl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2026-10-26T20:00:39Z</dcterms:created>
  <dcterms:modified xsi:type="dcterms:W3CDTF">2026-10-26T20:00:39Z</dcterms:modified>
</cp:coreProperties>
</file>