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6576000" cy="29260800"/>
  <p:notesSz cx="29260800" cy="3657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0" cy="3657600"/>
          </a:xfrm>
          <a:prstGeom prst="rect">
            <a:avLst/>
          </a:prstGeom>
          <a:solidFill>
            <a:srgbClr val="9E1B32"/>
          </a:solidFill>
          <a:ln w="12700">
            <a:solidFill>
              <a:srgbClr val="9E1B32"/>
            </a:solidFill>
            <a:prstDash val="solid"/>
          </a:ln>
        </p:spPr>
      </p:sp>
      <p:sp>
        <p:nvSpPr>
          <p:cNvPr id="3" name="Title"/>
          <p:cNvSpPr txBox="1"/>
          <p:nvPr/>
        </p:nvSpPr>
        <p:spPr>
          <a:xfrm>
            <a:off x="914400" y="320040"/>
            <a:ext cx="3474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SigmaTau.jl: unified, validated and fast time-and-frequency stability analysis in Julia</a:t>
            </a:r>
            <a:endParaRPr lang="en-US" sz="6000" dirty="0"/>
          </a:p>
        </p:txBody>
      </p:sp>
      <p:sp>
        <p:nvSpPr>
          <p:cNvPr id="4" name="Subtitle"/>
          <p:cNvSpPr txBox="1"/>
          <p:nvPr/>
        </p:nvSpPr>
        <p:spPr>
          <a:xfrm>
            <a:off x="914400" y="1645920"/>
            <a:ext cx="34747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estimator family with per-τ noise identification, EDF and χ² intervals in one call · matches Stable32 and allantools · modified-total kernels 1,600 to 4,200× faster · a new Monte-Carlo-calibrated MHTOTDEV</a:t>
            </a:r>
            <a:endParaRPr lang="en-US" sz="2800" dirty="0"/>
          </a:p>
        </p:txBody>
      </p:sp>
      <p:sp>
        <p:nvSpPr>
          <p:cNvPr id="5" name="Authors"/>
          <p:cNvSpPr txBox="1"/>
          <p:nvPr/>
        </p:nvSpPr>
        <p:spPr>
          <a:xfrm>
            <a:off x="914400" y="2880360"/>
            <a:ext cx="3474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Ian Lapinski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The University of Alabama   ·   github.com/ianlap/SigmaTau.jl   ·   MIT license   ·   Julia ≥ 1.11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11094720" cy="138760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0"/>
            </a:solidFill>
            <a:prstDash val="solid"/>
          </a:ln>
        </p:spPr>
      </p:sp>
      <p:sp>
        <p:nvSpPr>
          <p:cNvPr id="7" name="Heading"/>
          <p:cNvSpPr txBox="1"/>
          <p:nvPr/>
        </p:nvSpPr>
        <p:spPr>
          <a:xfrm>
            <a:off x="1234440" y="4526280"/>
            <a:ext cx="1045464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API, every estimator, a χ² interval with every point</a:t>
            </a:r>
            <a:endParaRPr lang="en-US" sz="3300" dirty="0"/>
          </a:p>
        </p:txBody>
      </p:sp>
      <p:sp>
        <p:nvSpPr>
          <p:cNvPr id="8" name="Bullets"/>
          <p:cNvSpPr txBox="1"/>
          <p:nvPr/>
        </p:nvSpPr>
        <p:spPr>
          <a:xfrm>
            <a:off x="1234440" y="5700522"/>
            <a:ext cx="10454640" cy="561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Allan: </a:t>
            </a:r>
            <a:pPr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ADEV, MDEV, TDEV.  Hadamard: HDEV, MHDEV, HTDEV.  Total: TOTDEV, MTOTDEV, TTOTDEV, HTOTDEV, MHTOTDEV.  Thêo1 / ThêoBR / ThêoH.  MTIE, TIE rms, PDEV.  Time-resolved DADEV / DHDEV.  Real-time ADEV / MDEV / HDEV / MHDEV.  N-cornered hat.  S</a:t>
            </a:r>
            <a:pPr indent="0" marL="0">
              <a:buNone/>
            </a:pPr>
            <a:r>
              <a:rPr lang="en-US" sz="2400" baseline="-40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</a:t>
            </a:r>
            <a:pPr indent="0" marL="0">
              <a:buNone/>
            </a:pPr>
            <a:r>
              <a:rPr lang="en-US" sz="2400" baseline="-40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pPr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ℒ(f), calibrated power-law synthesis.</a:t>
            </a:r>
            <a:endParaRPr lang="en-US" sz="2400" dirty="0"/>
          </a:p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τ, in the same call: </a:t>
            </a:r>
            <a:pPr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deviation, the noise type (lag-1 autocorrelation with B1 / R(n) fallback), the Greenhall–Riley EDF, and the χ² bounds at 68.3 % (switchable). Total-family bias corrections are on by default and switchable.</a:t>
            </a:r>
            <a:endParaRPr lang="en-US" sz="2400" dirty="0"/>
          </a:p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pPr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or frequency, any τ grid; read, detrend, gap-fill and outlier tools; plain-text round-trip of results.</a:t>
            </a:r>
            <a:endParaRPr lang="en-US" sz="2400" dirty="0"/>
          </a:p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and multi-clock: </a:t>
            </a:r>
            <a:pPr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ADEV, MDEV, HDEV and MHDEV accumulate in O(1) per sample per τ from a ring buffer of at most 4·m</a:t>
            </a:r>
            <a:pPr indent="0" marL="0">
              <a:buNone/>
            </a:pPr>
            <a:r>
              <a:rPr lang="en-US" sz="2400" baseline="-400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pPr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+ 1 samples and reproduce the batch kernels on the samples seen so far to ≤ 2 × 10⁻¹¹ relative (Dobrogowski–Kasznia 2007, extended to third differences); dynamic σ(t, τ) maps; N-cornered hat for N ≥ 3 clocks.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4440" y="11426190"/>
            <a:ext cx="10454640" cy="1215390"/>
          </a:xfrm>
          <a:prstGeom prst="roundRect">
            <a:avLst>
              <a:gd name="adj" fmla="val 6019"/>
            </a:avLst>
          </a:prstGeom>
          <a:solidFill>
            <a:srgbClr val="F4F4F2"/>
          </a:solidFill>
          <a:ln w="9525">
            <a:solidFill>
              <a:srgbClr val="D9D4D0"/>
            </a:solidFill>
            <a:prstDash val="solid"/>
          </a:ln>
        </p:spPr>
      </p:sp>
      <p:sp>
        <p:nvSpPr>
          <p:cNvPr id="10" name="Code"/>
          <p:cNvSpPr txBox="1"/>
          <p:nvPr/>
        </p:nvSpPr>
        <p:spPr>
          <a:xfrm>
            <a:off x="1417320" y="11535918"/>
            <a:ext cx="10088880" cy="995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read_phase("clock.DAT"; tau0 = 1.0)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adev(p)            # τ grid, σ_y, noise type, EDF, CI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suite = stability(p; devs = (:adev, :mdev, :hdev, :mhtotdev))</a:t>
            </a:r>
            <a:endParaRPr lang="en-US" sz="1900" dirty="0"/>
          </a:p>
        </p:txBody>
      </p:sp>
      <p:graphicFrame>
        <p:nvGraphicFramePr>
          <p:cNvPr id="2" name="Feature compariso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34440" y="12778740"/>
          <a:ext cx="10454640" cy="914400"/>
        </p:xfrm>
        <a:graphic>
          <a:graphicData uri="http://schemas.openxmlformats.org/drawingml/2006/table">
            <a:tbl>
              <a:tblPr/>
              <a:tblGrid>
                <a:gridCol w="3301465"/>
                <a:gridCol w="2109269"/>
                <a:gridCol w="2109269"/>
                <a:gridCol w="2934636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Stable32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allantools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SigmaTau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GUI, closed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library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Julia library + desktop app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χ² intervals with per-τ noise 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Total-family bias correction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TOTDEV, HTOTDEV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five, switchable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MDEV-class Hadamard (MHDEV, HTDEV, MHTOTDEV)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Thêo1 / ThêoBR / ThêoH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Thêo1 only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(time-resolved) deviation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accumulators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ADEV, HDEV, TDEV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ADEV, MDEV, HDEV, MHDEV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N-cornered hat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clocks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clocks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≥ 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Multithreaded kernels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914400" y="18493740"/>
            <a:ext cx="11094720" cy="811339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0"/>
            </a:solidFill>
            <a:prstDash val="solid"/>
          </a:ln>
        </p:spPr>
      </p:sp>
      <p:sp>
        <p:nvSpPr>
          <p:cNvPr id="13" name="Heading"/>
          <p:cNvSpPr txBox="1"/>
          <p:nvPr/>
        </p:nvSpPr>
        <p:spPr>
          <a:xfrm>
            <a:off x="1234440" y="18813780"/>
            <a:ext cx="10454640" cy="527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Deviation, noise type and interval at every τ</a:t>
            </a:r>
            <a:endParaRPr lang="en-US" sz="3300" dirty="0"/>
          </a:p>
        </p:txBody>
      </p:sp>
      <p:pic>
        <p:nvPicPr>
          <p:cNvPr id="14" name="F1_suite" descr="/home/user/SigmaTau.jl/poster/figures/F1_su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243" y="19506057"/>
            <a:ext cx="7583033" cy="5486400"/>
          </a:xfrm>
          <a:prstGeom prst="rect">
            <a:avLst/>
          </a:prstGeom>
        </p:spPr>
      </p:pic>
      <p:sp>
        <p:nvSpPr>
          <p:cNvPr id="15" name="Caption"/>
          <p:cNvSpPr txBox="1"/>
          <p:nvPr/>
        </p:nvSpPr>
        <p:spPr>
          <a:xfrm>
            <a:off x="1234440" y="25102185"/>
            <a:ext cx="10454640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1. One call on the shipped 8192-point validation record (τ₀ = 1 s): five estimators with 68.3 % χ² intervals from the noise type identified at each τ (top strip). The totals reach further (TOTDEV to τ = T/2, MHTOTDEV to T/4) with tighter long-τ bounds; MDEV separates white from flicker PM.</a:t>
            </a:r>
            <a:endParaRPr lang="en-US" sz="1950" dirty="0"/>
          </a:p>
        </p:txBody>
      </p:sp>
      <p:sp>
        <p:nvSpPr>
          <p:cNvPr id="16" name="Shape 12"/>
          <p:cNvSpPr/>
          <p:nvPr/>
        </p:nvSpPr>
        <p:spPr>
          <a:xfrm>
            <a:off x="12740640" y="4206240"/>
            <a:ext cx="11094720" cy="9695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0"/>
            </a:solidFill>
            <a:prstDash val="solid"/>
          </a:ln>
        </p:spPr>
      </p:sp>
      <p:sp>
        <p:nvSpPr>
          <p:cNvPr id="17" name="Heading"/>
          <p:cNvSpPr txBox="1"/>
          <p:nvPr/>
        </p:nvSpPr>
        <p:spPr>
          <a:xfrm>
            <a:off x="13060680" y="4526280"/>
            <a:ext cx="1045464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Stable32 to its printed precision and allantools to machine precision</a:t>
            </a:r>
            <a:endParaRPr lang="en-US" sz="3300" dirty="0"/>
          </a:p>
        </p:txBody>
      </p:sp>
      <p:sp>
        <p:nvSpPr>
          <p:cNvPr id="18" name="Body"/>
          <p:cNvSpPr txBox="1"/>
          <p:nvPr/>
        </p:nvSpPr>
        <p:spPr>
          <a:xfrm>
            <a:off x="13060680" y="5700522"/>
            <a:ext cx="10454640" cy="2545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fixture: an 8192-point phase record with the Stable32 and allantools outputs beside it. ADEV, MDEV, TDEV and HDEV agree with Stable32 to ≤ 0.005 % (its five significant figures) and with allantools to ≤ 1 × 10⁻¹³; raw total kernels agree with allantools to ≤ 4.4 × 10⁻¹⁵; confidence bounds agree with Stable32 to ≤ 0.05 % at 11 of 12 τ. Where a default differs from a reference (MTOTDEV bias policy, noise-ID detrending), the per-τ tables name the keyword that reproduces it.</a:t>
            </a:r>
            <a:endParaRPr lang="en-US" sz="2400" dirty="0"/>
          </a:p>
        </p:txBody>
      </p:sp>
      <p:pic>
        <p:nvPicPr>
          <p:cNvPr id="19" name="F2_validation" descr="/home/user/SigmaTau.jl/poster/figures/F2_valid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5996" y="8355330"/>
            <a:ext cx="6984008" cy="3931920"/>
          </a:xfrm>
          <a:prstGeom prst="rect">
            <a:avLst/>
          </a:prstGeom>
        </p:spPr>
      </p:pic>
      <p:sp>
        <p:nvSpPr>
          <p:cNvPr id="20" name="Caption"/>
          <p:cNvSpPr txBox="1"/>
          <p:nvPr/>
        </p:nvSpPr>
        <p:spPr>
          <a:xfrm>
            <a:off x="13060680" y="12396978"/>
            <a:ext cx="10454640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2. Relative difference to Stable32 at every τ for seven estimators. Filled points lie at or below the 5 × 10⁻⁵ floor set by Stable32's printed precision; open points are the τ = 256 s noise-ID convention (Stable32 α = +2, detrended identifier α = 0). MTOTDEV compared raw, as Stable32 reports the uncorrected statistic.</a:t>
            </a:r>
            <a:endParaRPr lang="en-US" sz="1950" dirty="0"/>
          </a:p>
        </p:txBody>
      </p:sp>
      <p:sp>
        <p:nvSpPr>
          <p:cNvPr id="21" name="Shape 16"/>
          <p:cNvSpPr/>
          <p:nvPr/>
        </p:nvSpPr>
        <p:spPr>
          <a:xfrm>
            <a:off x="12740640" y="14313408"/>
            <a:ext cx="11094720" cy="896893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0"/>
            </a:solidFill>
            <a:prstDash val="solid"/>
          </a:ln>
        </p:spPr>
      </p:sp>
      <p:sp>
        <p:nvSpPr>
          <p:cNvPr id="22" name="Heading"/>
          <p:cNvSpPr txBox="1"/>
          <p:nvPr/>
        </p:nvSpPr>
        <p:spPr>
          <a:xfrm>
            <a:off x="13060680" y="14633448"/>
            <a:ext cx="1045464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totals on a 4 × 10⁵-sample record: 0.47 s instead of 30 min</a:t>
            </a:r>
            <a:endParaRPr lang="en-US" sz="3300" dirty="0"/>
          </a:p>
        </p:txBody>
      </p:sp>
      <p:sp>
        <p:nvSpPr>
          <p:cNvPr id="23" name="Body"/>
          <p:cNvSpPr txBox="1"/>
          <p:nvPr/>
        </p:nvSpPr>
        <p:spPr>
          <a:xfrm>
            <a:off x="13060680" y="15807690"/>
            <a:ext cx="1045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samples, same τ grid, same statistic, kernel-only timing; allantools is single-threaded as it has no parallel path. On a measured 406 763-sample phase record MTOTDEV takes 0.469 s against 1 803.6 s and HTOTDEV 0.455 s against 1 928.0 s (3,842× and 4,233×). The gap is algorithmic as well as compiled-versus-interpreted: the reflected extension is streamed through a per-thread buffer and the window sum is split across threads.</a:t>
            </a:r>
            <a:endParaRPr lang="en-US" sz="2400" dirty="0"/>
          </a:p>
        </p:txBody>
      </p:sp>
      <p:pic>
        <p:nvPicPr>
          <p:cNvPr id="24" name="F3_speed" descr="/home/user/SigmaTau.jl/poster/figures/F3_spe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1441" y="18111978"/>
            <a:ext cx="6853118" cy="3840480"/>
          </a:xfrm>
          <a:prstGeom prst="rect">
            <a:avLst/>
          </a:prstGeom>
        </p:spPr>
      </p:pic>
      <p:sp>
        <p:nvSpPr>
          <p:cNvPr id="25" name="Caption"/>
          <p:cNvSpPr txBox="1"/>
          <p:nvPr/>
        </p:nvSpPr>
        <p:spPr>
          <a:xfrm>
            <a:off x="13060680" y="22062186"/>
            <a:ext cx="10454640" cy="900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3. Speed-up per kernel on an N = 25 000 white-PM record (bench/, 12-core workstation; diamonds: independent 4-core re-run). Ratios are the portable result; absolute times depend on the machine.</a:t>
            </a:r>
            <a:endParaRPr lang="en-US" sz="1950" dirty="0"/>
          </a:p>
        </p:txBody>
      </p:sp>
      <p:sp>
        <p:nvSpPr>
          <p:cNvPr id="26" name="Shape 20"/>
          <p:cNvSpPr/>
          <p:nvPr/>
        </p:nvSpPr>
        <p:spPr>
          <a:xfrm>
            <a:off x="12740640" y="23693819"/>
            <a:ext cx="11094720" cy="32835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0"/>
            </a:solidFill>
            <a:prstDash val="solid"/>
          </a:ln>
        </p:spPr>
      </p:sp>
      <p:sp>
        <p:nvSpPr>
          <p:cNvPr id="27" name="Heading"/>
          <p:cNvSpPr txBox="1"/>
          <p:nvPr/>
        </p:nvSpPr>
        <p:spPr>
          <a:xfrm>
            <a:off x="13060680" y="24013859"/>
            <a:ext cx="10454640" cy="5276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by construction</a:t>
            </a:r>
            <a:endParaRPr lang="en-US" sz="3300" dirty="0"/>
          </a:p>
        </p:txBody>
      </p:sp>
      <p:sp>
        <p:nvSpPr>
          <p:cNvPr id="28" name="Bullets"/>
          <p:cNvSpPr txBox="1"/>
          <p:nvPr/>
        </p:nvSpPr>
        <p:spPr>
          <a:xfrm>
            <a:off x="13060680" y="24706136"/>
            <a:ext cx="10454640" cy="193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with the code: </a:t>
            </a:r>
            <a:pPr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validation fixture with Stable32 and allantools outputs, the per-τ comparison tables, the benchmark scripts for both libraries, and the Monte Carlo harness with its seed and tracked fit artifact.</a:t>
            </a:r>
            <a:endParaRPr lang="en-US" sz="2400" dirty="0"/>
          </a:p>
          <a:p>
            <a:pPr marL="279400" indent="-279400">
              <a:spcAft>
                <a:spcPts val="700"/>
              </a:spcAft>
              <a:buSzPct val="100000"/>
              <a:buChar char="•"/>
            </a:pPr>
            <a:r>
              <a:rPr lang="en-US" sz="2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pPr indent="0" marL="0"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of the laboratory Rb-87 clock comparisons; Monte Carlo calibration of the Thêo family and of gapped records.</a:t>
            </a:r>
            <a:endParaRPr lang="en-US" sz="2400" dirty="0"/>
          </a:p>
        </p:txBody>
      </p:sp>
      <p:sp>
        <p:nvSpPr>
          <p:cNvPr id="29" name="Shape 23"/>
          <p:cNvSpPr/>
          <p:nvPr/>
        </p:nvSpPr>
        <p:spPr>
          <a:xfrm>
            <a:off x="24566880" y="4206240"/>
            <a:ext cx="11094720" cy="55308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0"/>
            </a:solidFill>
            <a:prstDash val="solid"/>
          </a:ln>
        </p:spPr>
      </p:sp>
      <p:sp>
        <p:nvSpPr>
          <p:cNvPr id="30" name="Heading"/>
          <p:cNvSpPr txBox="1"/>
          <p:nvPr/>
        </p:nvSpPr>
        <p:spPr>
          <a:xfrm>
            <a:off x="24886920" y="4526280"/>
            <a:ext cx="1045464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MHTOTDEV: a new total estimator, calibrated by Monte Carlo</a:t>
            </a:r>
            <a:endParaRPr lang="en-US" sz="3300" dirty="0"/>
          </a:p>
        </p:txBody>
      </p:sp>
      <p:sp>
        <p:nvSpPr>
          <p:cNvPr id="31" name="Body"/>
          <p:cNvSpPr txBox="1"/>
          <p:nvPr/>
        </p:nvSpPr>
        <p:spPr>
          <a:xfrm>
            <a:off x="24886920" y="5700522"/>
            <a:ext cx="10454640" cy="369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Hadamard total deviation combines drift rejection (third differences), white-from-flicker PM separation (modified form) and long-τ confidence (reflected extension). No published bias or EDF existed, so both were measured against synthesized noise: α ∈ {+2 … −2}, N ∈ {1024 … 32768}, R = 3000 realizations per cell, one seeded stream per (α, N, r), fits over τ/τ₀ ≥ 16. Bias B = E[MHTOTVAR]/E[MHVAR] against MHDEV on the same realization; EDF from the χ² variance relation, bootstrap standard error 2.6 %.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Kernel: the Greenhall scheme of MTOTDEV and HTOTDEV on windows of length 4m (half-mean slope removal, 3× time-reverse extension, modified third difference), after global least-squares drift removal.</a:t>
            </a:r>
            <a:endParaRPr lang="en-US" sz="2400" dirty="0"/>
          </a:p>
        </p:txBody>
      </p:sp>
      <p:sp>
        <p:nvSpPr>
          <p:cNvPr id="32" name="Shape 26"/>
          <p:cNvSpPr/>
          <p:nvPr/>
        </p:nvSpPr>
        <p:spPr>
          <a:xfrm>
            <a:off x="24566880" y="10148570"/>
            <a:ext cx="11094720" cy="8638413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0"/>
            </a:solidFill>
            <a:prstDash val="solid"/>
          </a:ln>
        </p:spPr>
      </p:sp>
      <p:sp>
        <p:nvSpPr>
          <p:cNvPr id="33" name="Heading"/>
          <p:cNvSpPr txBox="1"/>
          <p:nvPr/>
        </p:nvSpPr>
        <p:spPr>
          <a:xfrm>
            <a:off x="24886920" y="10468610"/>
            <a:ext cx="1045464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Unbiased for PM noise, reads high for red FM; EDF fits with R² ≥ 0.9982</a:t>
            </a:r>
            <a:endParaRPr lang="en-US" sz="3300" dirty="0"/>
          </a:p>
        </p:txBody>
      </p:sp>
      <p:pic>
        <p:nvPicPr>
          <p:cNvPr id="34" name="F4_mhtot_bias" descr="/home/user/SigmaTau.jl/poster/figures/F4_mhtot_bi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24428" y="11642852"/>
            <a:ext cx="4215143" cy="3657600"/>
          </a:xfrm>
          <a:prstGeom prst="rect">
            <a:avLst/>
          </a:prstGeom>
        </p:spPr>
      </p:pic>
      <p:pic>
        <p:nvPicPr>
          <p:cNvPr id="35" name="F5_mhtot_edf" descr="/home/user/SigmaTau.jl/poster/figures/F5_mhtot_ed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91116" y="11642852"/>
            <a:ext cx="4210729" cy="3657600"/>
          </a:xfrm>
          <a:prstGeom prst="rect">
            <a:avLst/>
          </a:prstGeom>
        </p:spPr>
      </p:pic>
      <p:sp>
        <p:nvSpPr>
          <p:cNvPr id="36" name="Caption"/>
          <p:cNvSpPr txBox="1"/>
          <p:nvPr/>
        </p:nvSpPr>
        <p:spPr>
          <a:xfrm>
            <a:off x="24886920" y="15410180"/>
            <a:ext cx="10454640" cy="615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4. Shipped models B = b₀ + b₁ τ/T and ν = b T/τ − c (seed 20260531). Below T/τ ≈ 5–6 the interval is indicative only; σ itself is valid to the reach limit τ = T/4.</a:t>
            </a:r>
            <a:endParaRPr lang="en-US" sz="1950" dirty="0"/>
          </a:p>
        </p:txBody>
      </p:sp>
      <p:graphicFrame>
        <p:nvGraphicFramePr>
          <p:cNvPr id="3" name="MHTOTDEV coefficie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886920" y="16116935"/>
          <a:ext cx="10454640" cy="914400"/>
        </p:xfrm>
        <a:graphic>
          <a:graphicData uri="http://schemas.openxmlformats.org/drawingml/2006/table">
            <a:tbl>
              <a:tblPr/>
              <a:tblGrid>
                <a:gridCol w="871220"/>
                <a:gridCol w="2516858"/>
                <a:gridCol w="1452033"/>
                <a:gridCol w="1548836"/>
                <a:gridCol w="1355231"/>
                <a:gridCol w="1355231"/>
                <a:gridCol w="1355231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b₀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b₁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EDF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EDF 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E1B3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PM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1.0308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−0.1197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1.6869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4.3166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flicker PM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0.9883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−0.0686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1.1671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3.2107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 FM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1.0545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−0.1706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1.0861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3.3451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flicker FM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1.2947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−0.7193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1.0095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3.3254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0.9991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2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random-walk FM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2.1686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−5.5884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2.4490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4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29"/>
          <p:cNvSpPr/>
          <p:nvPr/>
        </p:nvSpPr>
        <p:spPr>
          <a:xfrm>
            <a:off x="24566880" y="19198463"/>
            <a:ext cx="11094720" cy="7680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4D0"/>
            </a:solidFill>
            <a:prstDash val="solid"/>
          </a:ln>
        </p:spPr>
      </p:sp>
      <p:sp>
        <p:nvSpPr>
          <p:cNvPr id="39" name="Heading"/>
          <p:cNvSpPr txBox="1"/>
          <p:nvPr/>
        </p:nvSpPr>
        <p:spPr>
          <a:xfrm>
            <a:off x="24886920" y="19518503"/>
            <a:ext cx="1045464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Time-resolved stability: σ(t, τ) maps for non-stationary records</a:t>
            </a:r>
            <a:endParaRPr lang="en-US" sz="3300" dirty="0"/>
          </a:p>
        </p:txBody>
      </p:sp>
      <p:pic>
        <p:nvPicPr>
          <p:cNvPr id="40" name="F7_dynamic" descr="/home/user/SigmaTau.jl/poster/figures/F7_dynami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11773" y="20692745"/>
            <a:ext cx="6404934" cy="4572000"/>
          </a:xfrm>
          <a:prstGeom prst="rect">
            <a:avLst/>
          </a:prstGeom>
        </p:spPr>
      </p:pic>
      <p:sp>
        <p:nvSpPr>
          <p:cNvPr id="41" name="Caption"/>
          <p:cNvSpPr txBox="1"/>
          <p:nvPr/>
        </p:nvSpPr>
        <p:spPr>
          <a:xfrm>
            <a:off x="24886920" y="25374473"/>
            <a:ext cx="10454640" cy="1184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5. DADEV on a synthesized 8191-sample record (τ₀ = 1 s): white FM at σ</a:t>
            </a:r>
            <a:pPr indent="0" marL="0">
              <a:buNone/>
            </a:pPr>
            <a:r>
              <a:rPr lang="en-US" sz="1950" baseline="-400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pPr indent="0" marL="0">
              <a:buNone/>
            </a:pPr>
            <a:r>
              <a:rPr lang="en-US" sz="1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s) = 1 × 10⁻¹² for the first half, then 3 × 10⁻¹² plus flicker FM at 1 × 10⁻¹²; window 1024 samples, step 128. Each cell is an ordinary overlapping ADEV of its window, so the change is located to within one window length; a 3-D view is in the desktop explorer.</a:t>
            </a:r>
            <a:endParaRPr lang="en-US" sz="1950" dirty="0"/>
          </a:p>
        </p:txBody>
      </p:sp>
      <p:sp>
        <p:nvSpPr>
          <p:cNvPr id="42" name="Shape 32"/>
          <p:cNvSpPr/>
          <p:nvPr/>
        </p:nvSpPr>
        <p:spPr>
          <a:xfrm>
            <a:off x="914400" y="27066240"/>
            <a:ext cx="34747200" cy="0"/>
          </a:xfrm>
          <a:prstGeom prst="line">
            <a:avLst/>
          </a:prstGeom>
          <a:noFill/>
          <a:ln w="19050">
            <a:solidFill>
              <a:srgbClr val="D9D4D0"/>
            </a:solidFill>
            <a:prstDash val="solid"/>
          </a:ln>
        </p:spPr>
      </p:sp>
      <p:sp>
        <p:nvSpPr>
          <p:cNvPr id="43" name="References A"/>
          <p:cNvSpPr txBox="1"/>
          <p:nvPr/>
        </p:nvSpPr>
        <p:spPr>
          <a:xfrm>
            <a:off x="914400" y="27203400"/>
            <a:ext cx="12508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W. J. Riley, Handbook of Frequency Stability Analysis, NIST SP 1065 (2008).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IEEE Std 1139-2022, Standard Definitions of Physical Quantities for Fundamental Frequency and Time Metrology.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C. A. Greenhall and W. J. Riley, Uncertainty of stability variances based on finite differences, Proc. 35th PTTI (2003).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D. A. Howe, R. L. Beard, C. A. Greenhall, F. Vernotte and W. J. Riley, A total estimator of the Hadamard function used for GPS operations, Proc. 32nd PTTI (2000).</a:t>
            </a:r>
            <a:endParaRPr lang="en-US" sz="1500" dirty="0"/>
          </a:p>
        </p:txBody>
      </p:sp>
      <p:sp>
        <p:nvSpPr>
          <p:cNvPr id="44" name="References B"/>
          <p:cNvSpPr txBox="1"/>
          <p:nvPr/>
        </p:nvSpPr>
        <p:spPr>
          <a:xfrm>
            <a:off x="13697712" y="27203400"/>
            <a:ext cx="125089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F. Vernotte and D. A. Howe, Generalization of the total variance approach to the different classes of structure functions, Proc. 14th EFTF (2000).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A. Dobrogowski and M. Kasznia, Real-time assessment of Allan deviation and time deviation, Proc. IEEE FCS / EFTF (2007).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Reference implementations compared: Stable32 (W. J. Riley) and allantools (A. E. Wallin).</a:t>
            </a:r>
            <a:endParaRPr lang="en-US" sz="1500" dirty="0"/>
          </a:p>
        </p:txBody>
      </p:sp>
      <p:sp>
        <p:nvSpPr>
          <p:cNvPr id="45" name="Acknowledgments"/>
          <p:cNvSpPr txBox="1"/>
          <p:nvPr/>
        </p:nvSpPr>
        <p:spPr>
          <a:xfrm>
            <a:off x="26481024" y="27203400"/>
            <a:ext cx="91805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Acknowledgments: [funding / program / advisor placeholder]. Documentation: ianlap.github.io/SigmaTau.jl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SigmaTau.jl poster draft</dc:title>
  <dc:subject>PptxGenJS Presentation</dc:subject>
  <dc:creator>Ian Lapinski</dc:creator>
  <cp:lastModifiedBy>Ian Lapinski</cp:lastModifiedBy>
  <cp:revision>1</cp:revision>
  <dcterms:created xsi:type="dcterms:W3CDTF">2026-10-26T11:28:35Z</dcterms:created>
  <dcterms:modified xsi:type="dcterms:W3CDTF">2026-10-26T11:28:35Z</dcterms:modified>
</cp:coreProperties>
</file>