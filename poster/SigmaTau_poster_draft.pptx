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6576000" cy="29260800"/>
  <p:notesSz cx="29260800" cy="3657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0" cy="3657600"/>
          </a:xfrm>
          <a:prstGeom prst="rect">
            <a:avLst/>
          </a:prstGeom>
          <a:solidFill>
            <a:srgbClr val="9E1B32"/>
          </a:solidFill>
          <a:ln w="12700">
            <a:solidFill>
              <a:srgbClr val="9E1B32"/>
            </a:solidFill>
            <a:prstDash val="solid"/>
          </a:ln>
        </p:spPr>
      </p:sp>
      <p:sp>
        <p:nvSpPr>
          <p:cNvPr id="3" name="Title"/>
          <p:cNvSpPr txBox="1"/>
          <p:nvPr/>
        </p:nvSpPr>
        <p:spPr>
          <a:xfrm>
            <a:off x="914400" y="320040"/>
            <a:ext cx="34747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stability with quantified uncertainty: per-τ noise identification, χ² intervals, and a calibrated modified-Hadamard total deviation</a:t>
            </a:r>
            <a:endParaRPr lang="en-US" sz="6000" dirty="0"/>
          </a:p>
        </p:txBody>
      </p:sp>
      <p:sp>
        <p:nvSpPr>
          <p:cNvPr id="4" name="Subtitle"/>
          <p:cNvSpPr txBox="1"/>
          <p:nvPr/>
        </p:nvSpPr>
        <p:spPr>
          <a:xfrm>
            <a:off x="914400" y="2286000"/>
            <a:ext cx="3474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SigmaTau.jl, an open and validated time-and-frequency stability library in Julia</a:t>
            </a:r>
            <a:endParaRPr lang="en-US" sz="3000" dirty="0"/>
          </a:p>
        </p:txBody>
      </p:sp>
      <p:sp>
        <p:nvSpPr>
          <p:cNvPr id="5" name="Authors"/>
          <p:cNvSpPr txBox="1"/>
          <p:nvPr/>
        </p:nvSpPr>
        <p:spPr>
          <a:xfrm>
            <a:off x="914400" y="2880360"/>
            <a:ext cx="3474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Ian Lapinski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The University of Alabama   ·   github.com/ianlap/SigmaTau.jl   ·   v0.5.0, MIT license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14400" y="4206240"/>
            <a:ext cx="11094720" cy="447929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123444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record is finite, so every σ(τ) point is an estimate with an interval</a:t>
            </a:r>
            <a:endParaRPr lang="en-US" sz="3300" dirty="0"/>
          </a:p>
        </p:txBody>
      </p:sp>
      <p:sp>
        <p:nvSpPr>
          <p:cNvPr id="8" name="Body"/>
          <p:cNvSpPr txBox="1"/>
          <p:nvPr/>
        </p:nvSpPr>
        <p:spPr>
          <a:xfrm>
            <a:off x="1234440" y="5700522"/>
            <a:ext cx="10454640" cy="2646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 noise is power-law, S_y(f) ∝ f^α with α ∈ {+2, +1, 0, −1, −2} (white PM to random-walk FM). From N phase samples at spacing τ₀, the number of independent samples at averaging time τ = mτ₀ is not N/m: it depends on the noise type, on τ/T and on the estimator.</a:t>
            </a:r>
            <a:endParaRPr lang="en-US" sz="2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stability point therefore needs four quantities computed together: the deviation, the noise type at that τ, the equivalent degrees of freedom (EDF), and the χ² interval they imply.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9097010"/>
            <a:ext cx="11094720" cy="1353077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0" name="Heading"/>
          <p:cNvSpPr txBox="1"/>
          <p:nvPr/>
        </p:nvSpPr>
        <p:spPr>
          <a:xfrm>
            <a:off x="1234440" y="941705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returns deviation, noise type, EDF and interval at every τ</a:t>
            </a:r>
            <a:endParaRPr lang="en-US" sz="3300" dirty="0"/>
          </a:p>
        </p:txBody>
      </p:sp>
      <p:sp>
        <p:nvSpPr>
          <p:cNvPr id="11" name="Bullets"/>
          <p:cNvSpPr txBox="1"/>
          <p:nvPr/>
        </p:nvSpPr>
        <p:spPr>
          <a:xfrm>
            <a:off x="1234440" y="10591292"/>
            <a:ext cx="10454640" cy="465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Estimators: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Allan, modified Allan and time deviations; Hadamard, modified Hadamard and Hadamard time; five totals; Thêo1/ThêoBR/ThêoH; MTIE, TIE rms, PDEV; time-resolved and real-time variants.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type per τ: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lag-1 autocorrelation of the m-decimated, quadratically detrended phase differences, with the B1 / R(n) ratio as fallback.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EDF: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Greenhall–Riley 2003 for the difference families; the published total-variance tables (SP1065; Howe et al.) for TOTDEV, MTOTDEV and HTOTDEV; Monte Carlo for MHTOTDEV (column 2).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bounds on σ² with ν = EDF, 68.3 % by default. Total-family bias corrections are applied by default and switchable.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SP1065 and IEEE Std 1139-2022; every departure from a reference is a named, documented switch.</a:t>
            </a:r>
            <a:endParaRPr lang="en-US" sz="2400" dirty="0"/>
          </a:p>
        </p:txBody>
      </p:sp>
      <p:pic>
        <p:nvPicPr>
          <p:cNvPr id="12" name="F1_suite" descr="/home/user/SigmaTau.jl/poster/figures/F1_su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59603" y="15354300"/>
            <a:ext cx="8004313" cy="5943600"/>
          </a:xfrm>
          <a:prstGeom prst="rect">
            <a:avLst/>
          </a:prstGeom>
        </p:spPr>
      </p:pic>
      <p:sp>
        <p:nvSpPr>
          <p:cNvPr id="13" name="Caption"/>
          <p:cNvSpPr txBox="1"/>
          <p:nvPr/>
        </p:nvSpPr>
        <p:spPr>
          <a:xfrm>
            <a:off x="1234440" y="21407628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1. Deviation suite on the shipped 8192-point validation record (τ₀ = 1 s) with 68.3 % χ² intervals. MDEV rolls white PM off as τ^−3/2; the totals reach τ = T/4 with tighter long-τ intervals.</a:t>
            </a:r>
            <a:endParaRPr lang="en-US" sz="1950" dirty="0"/>
          </a:p>
        </p:txBody>
      </p:sp>
      <p:sp>
        <p:nvSpPr>
          <p:cNvPr id="14" name="Shape 11"/>
          <p:cNvSpPr/>
          <p:nvPr/>
        </p:nvSpPr>
        <p:spPr>
          <a:xfrm>
            <a:off x="914400" y="23039261"/>
            <a:ext cx="11094720" cy="363410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5" name="Heading"/>
          <p:cNvSpPr txBox="1"/>
          <p:nvPr/>
        </p:nvSpPr>
        <p:spPr>
          <a:xfrm>
            <a:off x="1234440" y="23359301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and multi-clock use</a:t>
            </a:r>
            <a:endParaRPr lang="en-US" sz="3300" dirty="0"/>
          </a:p>
        </p:txBody>
      </p:sp>
      <p:sp>
        <p:nvSpPr>
          <p:cNvPr id="16" name="Bullets"/>
          <p:cNvSpPr txBox="1"/>
          <p:nvPr/>
        </p:nvSpPr>
        <p:spPr>
          <a:xfrm>
            <a:off x="1234440" y="24051578"/>
            <a:ext cx="10454640" cy="2283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ADEV, MDEV, HDEV and MHDEV accumulate in O(1) per sample per τ (Dobrogowski–Kasznia 2007, extended to third differences) from a ring buffer of at most 4·m_max + 1 samples; the running estimate equals the batch kernel on the samples seen so far.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Time-resolved and ensemble: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σ(t, τ) maps for non-stationary records; N-cornered hat for N ≥ 3 clocks.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12740640" y="4206240"/>
            <a:ext cx="11094720" cy="937088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18" name="Heading"/>
          <p:cNvSpPr txBox="1"/>
          <p:nvPr/>
        </p:nvSpPr>
        <p:spPr>
          <a:xfrm>
            <a:off x="1306068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MHTOTDEV: a modified-Hadamard total deviation with no published coefficients</a:t>
            </a:r>
            <a:endParaRPr lang="en-US" sz="3300" dirty="0"/>
          </a:p>
        </p:txBody>
      </p:sp>
      <p:sp>
        <p:nvSpPr>
          <p:cNvPr id="19" name="Body"/>
          <p:cNvSpPr txBox="1"/>
          <p:nvPr/>
        </p:nvSpPr>
        <p:spPr>
          <a:xfrm>
            <a:off x="13060680" y="5700522"/>
            <a:ext cx="10454640" cy="1844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Hadamard (third-difference) family rejects linear frequency drift; the modified form separates white from flicker PM; the total form extends each window by reflection to recover confidence at long τ. MHTOTDEV combines all three. Every other total estimator inherits a published bias and EDF table; this one had none, so both were measured.</a:t>
            </a:r>
            <a:endParaRPr lang="en-US" sz="2400" dirty="0"/>
          </a:p>
        </p:txBody>
      </p:sp>
      <p:pic>
        <p:nvPicPr>
          <p:cNvPr id="20" name="F6_mhtot_construction" descr="/home/user/SigmaTau.jl/poster/figures/F6_mhtot_constru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7099" y="7654290"/>
            <a:ext cx="5481802" cy="4023360"/>
          </a:xfrm>
          <a:prstGeom prst="rect">
            <a:avLst/>
          </a:prstGeom>
        </p:spPr>
      </p:pic>
      <p:sp>
        <p:nvSpPr>
          <p:cNvPr id="21" name="Caption"/>
          <p:cNvSpPr txBox="1"/>
          <p:nvPr/>
        </p:nvSpPr>
        <p:spPr>
          <a:xfrm>
            <a:off x="13060680" y="11787378"/>
            <a:ext cx="10454640" cy="1469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2. Construction (Greenhall scheme, as for MTOTDEV and HTOTDEV): each of the N − 4m + 1 windows of length L = 4m has its half-mean slope removed and is extended by two time-reversed copies; the modified third difference is averaged over m positions, squared, normalised by 6m²τ², and averaged over all windows. The public call first removes the record's least-squares frequency drift.</a:t>
            </a:r>
            <a:endParaRPr lang="en-US" sz="1950" dirty="0"/>
          </a:p>
        </p:txBody>
      </p:sp>
      <p:sp>
        <p:nvSpPr>
          <p:cNvPr id="22" name="Shape 18"/>
          <p:cNvSpPr/>
          <p:nvPr/>
        </p:nvSpPr>
        <p:spPr>
          <a:xfrm>
            <a:off x="12740640" y="13988605"/>
            <a:ext cx="11094720" cy="126730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23" name="Heading"/>
          <p:cNvSpPr txBox="1"/>
          <p:nvPr/>
        </p:nvSpPr>
        <p:spPr>
          <a:xfrm>
            <a:off x="13060680" y="14308645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against synthesized noise measures both the bias and the EDF</a:t>
            </a:r>
            <a:endParaRPr lang="en-US" sz="3300" dirty="0"/>
          </a:p>
        </p:txBody>
      </p:sp>
      <p:sp>
        <p:nvSpPr>
          <p:cNvPr id="24" name="Bullets"/>
          <p:cNvSpPr txBox="1"/>
          <p:nvPr/>
        </p:nvSpPr>
        <p:spPr>
          <a:xfrm>
            <a:off x="13060680" y="15482887"/>
            <a:ext cx="10454640" cy="3423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∈ {+2, +1, 0, −1, −2}; N ∈ {1024, …, 32768}; octave m grid; R = 3000 realizations per cell; one independent random stream per (seed, α, N, r).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MHDEV on the same realization (its EDF follows from the Greenhall–Riley spectral sum). Bias B = E[MHTOTVAR] / E[MHVAR]; EDF = 2 V̄² / s_V², bootstrap standard error ≈ √(2/R) = 2.6 %.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τ/τ₀ ≥ 16, the validity window of the total-variance literature. EDF ν = b T/τ − c (Mod-Totvar; the TotHvar form fits no better than ΔR² = 8 × 10⁻⁴) and bias B = b₀ + b₁ τ/T, both by weighted least squares.</a:t>
            </a:r>
            <a:endParaRPr lang="en-US" sz="2400" dirty="0"/>
          </a:p>
        </p:txBody>
      </p:sp>
      <p:pic>
        <p:nvPicPr>
          <p:cNvPr id="25" name="F4_mhtot_bias" descr="/home/user/SigmaTau.jl/poster/figures/F4_mhtot_bi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8188" y="19016535"/>
            <a:ext cx="4215143" cy="3657600"/>
          </a:xfrm>
          <a:prstGeom prst="rect">
            <a:avLst/>
          </a:prstGeom>
        </p:spPr>
      </p:pic>
      <p:pic>
        <p:nvPicPr>
          <p:cNvPr id="26" name="F5_mhtot_edf" descr="/home/user/SigmaTau.jl/poster/figures/F5_mhtot_ed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876" y="19016535"/>
            <a:ext cx="4210729" cy="3657600"/>
          </a:xfrm>
          <a:prstGeom prst="rect">
            <a:avLst/>
          </a:prstGeom>
        </p:spPr>
      </p:pic>
      <p:sp>
        <p:nvSpPr>
          <p:cNvPr id="27" name="Caption"/>
          <p:cNvSpPr txBox="1"/>
          <p:nvPr/>
        </p:nvSpPr>
        <p:spPr>
          <a:xfrm>
            <a:off x="13060680" y="22783864"/>
            <a:ext cx="10454640" cy="1184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3. Shipped models. Left: ≈ unbiased for the PM noises, reads high for red FM (B ≈ 2.2 for random-walk FM at small τ/T). Right: EDF, R² ≥ 0.9982 for every α; below T/τ ≈ 5–6 the interval is indicative only, while σ itself is valid to the reach limit τ = T/4. Table: shipped coefficients (seed 20260531, R = 3000, N ≤ 32768).</a:t>
            </a:r>
            <a:endParaRPr lang="en-US" sz="1950" dirty="0"/>
          </a:p>
        </p:txBody>
      </p:sp>
      <p:graphicFrame>
        <p:nvGraphicFramePr>
          <p:cNvPr id="2" name="Coefficien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060680" y="24060213"/>
          <a:ext cx="10454640" cy="914400"/>
        </p:xfrm>
        <a:graphic>
          <a:graphicData uri="http://schemas.openxmlformats.org/drawingml/2006/table">
            <a:tbl>
              <a:tblPr/>
              <a:tblGrid>
                <a:gridCol w="871220"/>
                <a:gridCol w="2516858"/>
                <a:gridCol w="1452033"/>
                <a:gridCol w="1548836"/>
                <a:gridCol w="1355231"/>
                <a:gridCol w="1355231"/>
                <a:gridCol w="1355231"/>
              </a:tblGrid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noise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b₀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 b₁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EDF R²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1B32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1.0308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−0.1197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1.6869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4.3166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PM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1.1671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3.2107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1.0545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−0.1706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1.0861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3.3451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flicker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1.2947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−0.7193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1.0095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3.3254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2F3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random-walk FM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2.1686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−5.5884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2.4490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2"/>
          <p:cNvSpPr/>
          <p:nvPr/>
        </p:nvSpPr>
        <p:spPr>
          <a:xfrm>
            <a:off x="24566880" y="4206240"/>
            <a:ext cx="11094720" cy="988333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0" name="Heading"/>
          <p:cNvSpPr txBox="1"/>
          <p:nvPr/>
        </p:nvSpPr>
        <p:spPr>
          <a:xfrm>
            <a:off x="24886920" y="452628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with Stable32 to its printed precision and with allantools to 10⁻¹³</a:t>
            </a:r>
            <a:endParaRPr lang="en-US" sz="3300" dirty="0"/>
          </a:p>
        </p:txBody>
      </p:sp>
      <p:sp>
        <p:nvSpPr>
          <p:cNvPr id="31" name="Body"/>
          <p:cNvSpPr txBox="1"/>
          <p:nvPr/>
        </p:nvSpPr>
        <p:spPr>
          <a:xfrm>
            <a:off x="24886920" y="5700522"/>
            <a:ext cx="10454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shipped record, ADEV, MDEV, TDEV and HDEV match Stable32 to ≤ 0.005 % (its five-significant-figure output) and allantools to ≤ 1 × 10⁻¹³; the raw total kernels match allantools to ≤ 4.4 × 10⁻¹⁵. Confidence bounds agree with Stable32 to ≤ 0.05 % at 11 of 12 τ. The one recurring residual is a convention: at τ = 256 s Stable32 assigns α = +2 where the detrended identifier assigns α = 0; one keyword reproduces Stable32 at every τ.</a:t>
            </a:r>
            <a:endParaRPr lang="en-US" sz="2400" dirty="0"/>
          </a:p>
        </p:txBody>
      </p:sp>
      <p:pic>
        <p:nvPicPr>
          <p:cNvPr id="32" name="F2_validation" descr="/home/user/SigmaTau.jl/poster/figures/F2_validatio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891351" y="8004810"/>
            <a:ext cx="8445777" cy="4754880"/>
          </a:xfrm>
          <a:prstGeom prst="rect">
            <a:avLst/>
          </a:prstGeom>
        </p:spPr>
      </p:pic>
      <p:sp>
        <p:nvSpPr>
          <p:cNvPr id="33" name="Caption"/>
          <p:cNvSpPr txBox="1"/>
          <p:nvPr/>
        </p:nvSpPr>
        <p:spPr>
          <a:xfrm>
            <a:off x="24886920" y="12869418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4. Relative difference to Stable32 at every τ for seven estimators. Filled points lie at or below the 5 × 10⁻⁵ floor set by Stable32's printed precision; open points are the τ = 256 s convention. MTOTDEV is compared raw, as Stable32 reports the uncorrected statistic.</a:t>
            </a:r>
            <a:endParaRPr lang="en-US" sz="1950" dirty="0"/>
          </a:p>
        </p:txBody>
      </p:sp>
      <p:sp>
        <p:nvSpPr>
          <p:cNvPr id="34" name="Shape 26"/>
          <p:cNvSpPr/>
          <p:nvPr/>
        </p:nvSpPr>
        <p:spPr>
          <a:xfrm>
            <a:off x="24566880" y="14501051"/>
            <a:ext cx="11094720" cy="8984171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35" name="Heading"/>
          <p:cNvSpPr txBox="1"/>
          <p:nvPr/>
        </p:nvSpPr>
        <p:spPr>
          <a:xfrm>
            <a:off x="24886920" y="14821090"/>
            <a:ext cx="10454640" cy="1009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Modified-total analysis of a day-long record takes seconds, not half an hour</a:t>
            </a:r>
            <a:endParaRPr lang="en-US" sz="3300" dirty="0"/>
          </a:p>
        </p:txBody>
      </p:sp>
      <p:sp>
        <p:nvSpPr>
          <p:cNvPr id="36" name="Body"/>
          <p:cNvSpPr txBox="1"/>
          <p:nvPr/>
        </p:nvSpPr>
        <p:spPr>
          <a:xfrm>
            <a:off x="24886920" y="15995333"/>
            <a:ext cx="10454640" cy="1844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samples, same τ grid, same statistic; allantools is single-threaded as it has no parallel path. On a measured 406 763-sample phase record MTOTDEV takes 0.469 s against 1 803.6 s. The gap is algorithmic as well as compiled-versus-interpreted: the reflected extension is streamed through a per-thread buffer and the window sum is split across threads.</a:t>
            </a:r>
            <a:endParaRPr lang="en-US" sz="2400" dirty="0"/>
          </a:p>
        </p:txBody>
      </p:sp>
      <p:pic>
        <p:nvPicPr>
          <p:cNvPr id="37" name="F3_speed" descr="/home/user/SigmaTau.jl/poster/figures/F3_spe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61342" y="17949101"/>
            <a:ext cx="7505795" cy="4206240"/>
          </a:xfrm>
          <a:prstGeom prst="rect">
            <a:avLst/>
          </a:prstGeom>
        </p:spPr>
      </p:pic>
      <p:sp>
        <p:nvSpPr>
          <p:cNvPr id="38" name="Caption"/>
          <p:cNvSpPr txBox="1"/>
          <p:nvPr/>
        </p:nvSpPr>
        <p:spPr>
          <a:xfrm>
            <a:off x="24886920" y="22265069"/>
            <a:ext cx="10454640" cy="900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5. Speed-up per kernel on an N = 25 000 white-PM record (bench/, mean of 30 realizations, 12 cores; diamonds: independent 4-core re-run). Ratios are the portable result; absolute times depend on the machine.</a:t>
            </a:r>
            <a:endParaRPr lang="en-US" sz="1950" dirty="0"/>
          </a:p>
        </p:txBody>
      </p:sp>
      <p:sp>
        <p:nvSpPr>
          <p:cNvPr id="39" name="Shape 30"/>
          <p:cNvSpPr/>
          <p:nvPr/>
        </p:nvSpPr>
        <p:spPr>
          <a:xfrm>
            <a:off x="24566880" y="23896701"/>
            <a:ext cx="11094720" cy="293306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4D0"/>
            </a:solidFill>
            <a:prstDash val="solid"/>
          </a:ln>
        </p:spPr>
      </p:sp>
      <p:sp>
        <p:nvSpPr>
          <p:cNvPr id="40" name="Heading"/>
          <p:cNvSpPr txBox="1"/>
          <p:nvPr/>
        </p:nvSpPr>
        <p:spPr>
          <a:xfrm>
            <a:off x="24886920" y="24216741"/>
            <a:ext cx="10454640" cy="5276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300" dirty="0"/>
          </a:p>
        </p:txBody>
      </p:sp>
      <p:sp>
        <p:nvSpPr>
          <p:cNvPr id="41" name="Bullets"/>
          <p:cNvSpPr txBox="1"/>
          <p:nvPr/>
        </p:nvSpPr>
        <p:spPr>
          <a:xfrm>
            <a:off x="24886920" y="24909018"/>
            <a:ext cx="10454640" cy="1582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records: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drift-tolerant Hadamard family and the real-time accumulators to the Rb-87 clock comparisons.</a:t>
            </a:r>
            <a:endParaRPr lang="en-US" sz="2400" dirty="0"/>
          </a:p>
          <a:p>
            <a:pPr marL="279400" indent="-279400">
              <a:spcAft>
                <a:spcPts val="700"/>
              </a:spcAft>
              <a:buSzPct val="100000"/>
              <a:buChar char="•"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Calibration: </a:t>
            </a:r>
            <a:pPr indent="0" marL="0">
              <a:buNone/>
            </a:pPr>
            <a:r>
              <a:rPr lang="en-US" sz="2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Monte Carlo method to the Thêo family and to gapped records.</a:t>
            </a:r>
            <a:endParaRPr lang="en-US" sz="2400" dirty="0"/>
          </a:p>
        </p:txBody>
      </p:sp>
      <p:sp>
        <p:nvSpPr>
          <p:cNvPr id="42" name="Shape 33"/>
          <p:cNvSpPr/>
          <p:nvPr/>
        </p:nvSpPr>
        <p:spPr>
          <a:xfrm>
            <a:off x="914400" y="26791920"/>
            <a:ext cx="34747200" cy="0"/>
          </a:xfrm>
          <a:prstGeom prst="line">
            <a:avLst/>
          </a:prstGeom>
          <a:noFill/>
          <a:ln w="19050">
            <a:solidFill>
              <a:srgbClr val="D9D4D0"/>
            </a:solidFill>
            <a:prstDash val="solid"/>
          </a:ln>
        </p:spPr>
      </p:sp>
      <p:sp>
        <p:nvSpPr>
          <p:cNvPr id="43" name="References A"/>
          <p:cNvSpPr txBox="1"/>
          <p:nvPr/>
        </p:nvSpPr>
        <p:spPr>
          <a:xfrm>
            <a:off x="914400" y="26929080"/>
            <a:ext cx="12508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W. J. Riley, Handbook of Frequency Stability Analysis, NIST SP 1065 (2008).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IEEE Std 1139-2022, Standard Definitions of Physical Quantities for Fundamental Frequency and Time Metrology.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C. A. Greenhall and W. J. Riley, Uncertainty of stability variances based on finite differences, Proc. 35th PTTI (2003).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D. A. Howe, R. L. Beard, C. A. Greenhall, F. Vernotte and W. J. Riley, A total estimator of the Hadamard function used for GPS operations, Proc. 32nd PTTI (2000).</a:t>
            </a:r>
            <a:endParaRPr lang="en-US" sz="1500" dirty="0"/>
          </a:p>
        </p:txBody>
      </p:sp>
      <p:sp>
        <p:nvSpPr>
          <p:cNvPr id="44" name="References B"/>
          <p:cNvSpPr txBox="1"/>
          <p:nvPr/>
        </p:nvSpPr>
        <p:spPr>
          <a:xfrm>
            <a:off x="13697712" y="26929080"/>
            <a:ext cx="12508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F. Vernotte and D. A. Howe, Generalization of the total variance approach to the different classes of structure functions, Proc. EFTF (2000).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A. Dobrogowski and M. Kasznia, Real-time assessment of Allan deviation and time deviation, Proc. IEEE FCS / EFTF (2007).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Reference implementations compared: Stable32 (W. J. Riley) and allantools (A. E. Wallin).</a:t>
            </a:r>
            <a:endParaRPr lang="en-US" sz="1500" dirty="0"/>
          </a:p>
        </p:txBody>
      </p:sp>
      <p:sp>
        <p:nvSpPr>
          <p:cNvPr id="45" name="Acknowledgments"/>
          <p:cNvSpPr txBox="1"/>
          <p:nvPr/>
        </p:nvSpPr>
        <p:spPr>
          <a:xfrm>
            <a:off x="26481024" y="26929080"/>
            <a:ext cx="91805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Acknowledgments: [funding / program / advisor placeholder]. Validation fixtures, benchmark scripts and the Monte Carlo harness are in the repository.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SigmaTau.jl poster draft</dc:title>
  <dc:subject>PptxGenJS Presentation</dc:subject>
  <dc:creator>Ian Lapinski</dc:creator>
  <cp:lastModifiedBy>Ian Lapinski</cp:lastModifiedBy>
  <cp:revision>1</cp:revision>
  <dcterms:created xsi:type="dcterms:W3CDTF">2026-10-26T11:05:43Z</dcterms:created>
  <dcterms:modified xsi:type="dcterms:W3CDTF">2026-10-26T11:05:43Z</dcterms:modified>
</cp:coreProperties>
</file>