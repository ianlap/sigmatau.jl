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SigmaTau.jl: unified, validated and fast time-and-frequency stability analysis in Julia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1645920"/>
            <a:ext cx="34747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estimator family with per-τ noise identification, EDF and χ² intervals in one call · matches Stable32 and allantools · modified-total kernels 1,600 to 4,200× faster · a new Monte-Carlo-calibrated MHTOTDEV</a:t>
            </a:r>
            <a:endParaRPr lang="en-US" sz="28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MIT license   ·   Julia ≥ 1.11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138760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API, every estimator, a χ² interval with every point</a:t>
            </a:r>
            <a:endParaRPr lang="en-US" sz="3300" dirty="0"/>
          </a:p>
        </p:txBody>
      </p:sp>
      <p:sp>
        <p:nvSpPr>
          <p:cNvPr id="8" name="Bullets"/>
          <p:cNvSpPr txBox="1"/>
          <p:nvPr/>
        </p:nvSpPr>
        <p:spPr>
          <a:xfrm>
            <a:off x="1234440" y="5700522"/>
            <a:ext cx="10454640" cy="561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TDEV.  Hadamard: HDEV, MHDEV, HTDEV.  Total: TOTDEV, MTOTDEV, TTOTDEV, HTOTDEV, MHTOTDEV.  Thêo1 / ThêoBR / ThêoH.  MTIE, TIE rms, PDEV.  Time-resolved DADEV / DHDEV.  Real-time ADEV / MDEV / HDEV / MHDEV.  N-cornered hat. 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ℒ(f), calibrated power-law synthesis.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τ, in the same call: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deviation, the noise type (lag-1 autocorrelation with B1 / R(n) fallback), the Greenhall–Riley EDF, and the χ² bounds at 68.3 % (switchable). Total-family bias corrections are on by default and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or frequency, any τ grid; read, detrend, gap-fill and outlier tools; plain-text round-trip of results.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multi-clock: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 and MHDEV accumulate in O(1) per sample per τ from a ring buffer of at most 4·m</a:t>
            </a:r>
            <a:pPr indent="0" marL="0">
              <a:buNone/>
            </a:pPr>
            <a:r>
              <a:rPr lang="en-US" sz="2400" baseline="-400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+ 1 samples and equal the batch kernels on the samples seen so far (Dobrogowski–Kasznia 2007, extended to third differences); dynamic σ(t, τ) maps; N-cornered hat for N ≥ 3 clocks.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4440" y="11426190"/>
            <a:ext cx="10454640" cy="1215390"/>
          </a:xfrm>
          <a:prstGeom prst="roundRect">
            <a:avLst>
              <a:gd name="adj" fmla="val 6019"/>
            </a:avLst>
          </a:prstGeom>
          <a:solidFill>
            <a:srgbClr val="F4F4F2"/>
          </a:solidFill>
          <a:ln w="9525">
            <a:solidFill>
              <a:srgbClr val="D9D4D0"/>
            </a:solidFill>
            <a:prstDash val="solid"/>
          </a:ln>
        </p:spPr>
      </p:sp>
      <p:sp>
        <p:nvSpPr>
          <p:cNvPr id="10" name="Code"/>
          <p:cNvSpPr txBox="1"/>
          <p:nvPr/>
        </p:nvSpPr>
        <p:spPr>
          <a:xfrm>
            <a:off x="1417320" y="11535918"/>
            <a:ext cx="10088880" cy="995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read_phase("clock.DAT"; tau0 = 1.0)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adev(p)            # τ grid, σ_y, noise type, EDF, CI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0B0B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suite = stability(p; devs = (:adev, :mdev, :hdev, :mhtotdev))</a:t>
            </a:r>
            <a:endParaRPr lang="en-US" sz="1900" dirty="0"/>
          </a:p>
        </p:txBody>
      </p:sp>
      <p:graphicFrame>
        <p:nvGraphicFramePr>
          <p:cNvPr id="2" name="Feature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" y="12778740"/>
          <a:ext cx="10454640" cy="914400"/>
        </p:xfrm>
        <a:graphic>
          <a:graphicData uri="http://schemas.openxmlformats.org/drawingml/2006/table">
            <a:tbl>
              <a:tblPr/>
              <a:tblGrid>
                <a:gridCol w="3301465"/>
                <a:gridCol w="2109269"/>
                <a:gridCol w="2109269"/>
                <a:gridCol w="293463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Stable32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allantools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SigmaTau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GUI, closed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library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Julia library + desktop app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χ² intervals with per-τ noise 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call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Total-family bias correction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TOTDEV, HTOTDEV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five, switchable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MDEV-class Hadamard (MHDEV, HTDEV, MHTOTDEV)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/ ThêoBR / ThêoH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Thêo1 only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(time-resolved) 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accumulators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HDEV, TDEV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ADEV, MDEV, HDEV, MHDEV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N-cornered hat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clocks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≥ 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Multithreaded kernels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914400" y="18493740"/>
            <a:ext cx="11094720" cy="764571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1234440" y="18813780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Deviation, noise type and interval at every τ</a:t>
            </a:r>
            <a:endParaRPr lang="en-US" sz="3300" dirty="0"/>
          </a:p>
        </p:txBody>
      </p:sp>
      <p:pic>
        <p:nvPicPr>
          <p:cNvPr id="14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0605" y="19506057"/>
            <a:ext cx="7142310" cy="5303520"/>
          </a:xfrm>
          <a:prstGeom prst="rect">
            <a:avLst/>
          </a:prstGeom>
        </p:spPr>
      </p:pic>
      <p:sp>
        <p:nvSpPr>
          <p:cNvPr id="15" name="Caption"/>
          <p:cNvSpPr txBox="1"/>
          <p:nvPr/>
        </p:nvSpPr>
        <p:spPr>
          <a:xfrm>
            <a:off x="1234440" y="24919305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One call on the shipped 8192-point validation record (τ₀ = 1 s): five estimators with 68.3 % χ² intervals from the per-τ identified noise type. The totals reach further (TOTDEV to τ = T/2, HTOTDEV to T/3) with tighter long-τ bounds; MDEV separates white from flicker PM.</a:t>
            </a:r>
            <a:endParaRPr lang="en-US" sz="1950" dirty="0"/>
          </a:p>
        </p:txBody>
      </p:sp>
      <p:sp>
        <p:nvSpPr>
          <p:cNvPr id="16" name="Shape 12"/>
          <p:cNvSpPr/>
          <p:nvPr/>
        </p:nvSpPr>
        <p:spPr>
          <a:xfrm>
            <a:off x="12740640" y="4206240"/>
            <a:ext cx="11094720" cy="10701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Stable32 to its printed precision and allantools to machine precision</a:t>
            </a:r>
            <a:endParaRPr lang="en-US" sz="3300" dirty="0"/>
          </a:p>
        </p:txBody>
      </p:sp>
      <p:sp>
        <p:nvSpPr>
          <p:cNvPr id="18" name="Body"/>
          <p:cNvSpPr txBox="1"/>
          <p:nvPr/>
        </p:nvSpPr>
        <p:spPr>
          <a:xfrm>
            <a:off x="13060680" y="5700522"/>
            <a:ext cx="10454640" cy="2545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fixture: an 8192-point phase record with Stable32 and allantools outputs beside it. ADEV, MDEV, TDEV and HDEV agree with Stable32 to ≤ 0.005 % (its five significant figures) and with allantools to ≤ 1 × 10⁻¹³; the raw total kernels agree with allantools to ≤ 4.4 × 10⁻¹⁵; confidence bounds agree with Stable32 to ≤ 0.05 % at 11 of 12 τ. Where a default differs from a reference (MTOTDEV bias policy, noise-ID detrending), the per-τ tables name the keyword that reproduces the reference.</a:t>
            </a:r>
            <a:endParaRPr lang="en-US" sz="2400" dirty="0"/>
          </a:p>
        </p:txBody>
      </p:sp>
      <p:pic>
        <p:nvPicPr>
          <p:cNvPr id="19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2693" y="8355330"/>
            <a:ext cx="8770615" cy="4937760"/>
          </a:xfrm>
          <a:prstGeom prst="rect">
            <a:avLst/>
          </a:prstGeom>
        </p:spPr>
      </p:pic>
      <p:sp>
        <p:nvSpPr>
          <p:cNvPr id="20" name="Caption"/>
          <p:cNvSpPr txBox="1"/>
          <p:nvPr/>
        </p:nvSpPr>
        <p:spPr>
          <a:xfrm>
            <a:off x="13060680" y="13402818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Relative difference to Stable32 at every τ for seven estimators. Filled points lie at or below the 5 × 10⁻⁵ floor set by Stable32's printed precision; open points are the τ = 256 s noise-ID convention (Stable32 α = +2, detrended identifier α = 0). MTOTDEV compared raw, as Stable32 reports the uncorrected statistic.</a:t>
            </a:r>
            <a:endParaRPr lang="en-US" sz="1950" dirty="0"/>
          </a:p>
        </p:txBody>
      </p:sp>
      <p:sp>
        <p:nvSpPr>
          <p:cNvPr id="21" name="Shape 16"/>
          <p:cNvSpPr/>
          <p:nvPr/>
        </p:nvSpPr>
        <p:spPr>
          <a:xfrm>
            <a:off x="12740640" y="15319248"/>
            <a:ext cx="11094720" cy="970045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13060680" y="15639288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totals on a 4 × 10⁵-sample record: 0.47 s instead of 30 min</a:t>
            </a:r>
            <a:endParaRPr lang="en-US" sz="3300" dirty="0"/>
          </a:p>
        </p:txBody>
      </p:sp>
      <p:sp>
        <p:nvSpPr>
          <p:cNvPr id="23" name="Body"/>
          <p:cNvSpPr txBox="1"/>
          <p:nvPr/>
        </p:nvSpPr>
        <p:spPr>
          <a:xfrm>
            <a:off x="13060680" y="16813530"/>
            <a:ext cx="1045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samples, same τ grid, same statistic, kernel-only timing; allantools is single-threaded as it has no parallel path. On a measured 406 763-sample phase record MTOTDEV takes 0.469 s against 1 803.6 s and HTOTDEV 0.455 s against 1 928.0 s (3,842× and 4,233×). The gap is algorithmic as well as compiled-versus-interpreted: the reflected extension is streamed through a per-thread buffer and the window sum is split across threads.</a:t>
            </a:r>
            <a:endParaRPr lang="en-US" sz="2400" dirty="0"/>
          </a:p>
        </p:txBody>
      </p:sp>
      <p:pic>
        <p:nvPicPr>
          <p:cNvPr id="24" name="F3_speed" descr="/home/user/SigmaTau.jl/poster/figures/F3_spe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8763" y="19117818"/>
            <a:ext cx="8158473" cy="4572000"/>
          </a:xfrm>
          <a:prstGeom prst="rect">
            <a:avLst/>
          </a:prstGeom>
        </p:spPr>
      </p:pic>
      <p:sp>
        <p:nvSpPr>
          <p:cNvPr id="25" name="Caption"/>
          <p:cNvSpPr txBox="1"/>
          <p:nvPr/>
        </p:nvSpPr>
        <p:spPr>
          <a:xfrm>
            <a:off x="13060680" y="23799546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Speed-up per kernel on an N = 25 000 white-PM record (bench/, 12-core workstation; diamonds: independent 4-core re-run). Ratios are the portable result; absolute times depend on the machine.</a:t>
            </a:r>
            <a:endParaRPr lang="en-US" sz="1950" dirty="0"/>
          </a:p>
        </p:txBody>
      </p:sp>
      <p:sp>
        <p:nvSpPr>
          <p:cNvPr id="26" name="Shape 20"/>
          <p:cNvSpPr/>
          <p:nvPr/>
        </p:nvSpPr>
        <p:spPr>
          <a:xfrm>
            <a:off x="24566880" y="4206240"/>
            <a:ext cx="11094720" cy="9329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7" name="Heading"/>
          <p:cNvSpPr txBox="1"/>
          <p:nvPr/>
        </p:nvSpPr>
        <p:spPr>
          <a:xfrm>
            <a:off x="2488692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a new total estimator, calibrated by Monte Carlo</a:t>
            </a:r>
            <a:endParaRPr lang="en-US" sz="3300" dirty="0"/>
          </a:p>
        </p:txBody>
      </p:sp>
      <p:sp>
        <p:nvSpPr>
          <p:cNvPr id="28" name="Body"/>
          <p:cNvSpPr txBox="1"/>
          <p:nvPr/>
        </p:nvSpPr>
        <p:spPr>
          <a:xfrm>
            <a:off x="24886920" y="5700522"/>
            <a:ext cx="10454640" cy="2545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Hadamard total deviation combines drift rejection (third differences), white-from-flicker PM separation (modified form) and long-τ confidence (reflected extension). No published bias or EDF existed, so both were measured against synthesized noise: α ∈ {+2 … −2}, N ∈ {1024 … 32768}, R = 3000 realizations per cell, one seeded stream per (α, N, r), fits over τ/τ₀ ≥ 16. Bias B = E[MHTOTVAR]/E[MHVAR] against MHDEV on the same realization; EDF from the χ² variance relation; bootstrap standard error 2.6 %.</a:t>
            </a:r>
            <a:endParaRPr lang="en-US" sz="2400" dirty="0"/>
          </a:p>
        </p:txBody>
      </p:sp>
      <p:pic>
        <p:nvPicPr>
          <p:cNvPr id="29" name="F6_mhtot_construction" descr="/home/user/SigmaTau.jl/poster/figures/F6_mhtot_construc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4805" y="8355330"/>
            <a:ext cx="4858870" cy="3566160"/>
          </a:xfrm>
          <a:prstGeom prst="rect">
            <a:avLst/>
          </a:prstGeom>
        </p:spPr>
      </p:pic>
      <p:sp>
        <p:nvSpPr>
          <p:cNvPr id="30" name="Caption"/>
          <p:cNvSpPr txBox="1"/>
          <p:nvPr/>
        </p:nvSpPr>
        <p:spPr>
          <a:xfrm>
            <a:off x="24886920" y="12031218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Kernel (Greenhall scheme): each of the N − 4m + 1 windows of length 4m has its half-mean slope removed and is extended by two time-reversed copies; the third difference at lag m is averaged over m, squared, normalised by 6m²τ² and averaged over all windows. The public call removes the least-squares frequency drift first.</a:t>
            </a:r>
            <a:endParaRPr lang="en-US" sz="1950" dirty="0"/>
          </a:p>
        </p:txBody>
      </p:sp>
      <p:sp>
        <p:nvSpPr>
          <p:cNvPr id="31" name="Shape 24"/>
          <p:cNvSpPr/>
          <p:nvPr/>
        </p:nvSpPr>
        <p:spPr>
          <a:xfrm>
            <a:off x="24566880" y="13947648"/>
            <a:ext cx="11094720" cy="845553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2" name="Heading"/>
          <p:cNvSpPr txBox="1"/>
          <p:nvPr/>
        </p:nvSpPr>
        <p:spPr>
          <a:xfrm>
            <a:off x="24886920" y="14267688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Unbiased for PM noise, reads high for red FM; EDF fits with R² ≥ 0.9982</a:t>
            </a:r>
            <a:endParaRPr lang="en-US" sz="3300" dirty="0"/>
          </a:p>
        </p:txBody>
      </p:sp>
      <p:pic>
        <p:nvPicPr>
          <p:cNvPr id="33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29807" y="15441930"/>
            <a:ext cx="4004386" cy="3474720"/>
          </a:xfrm>
          <a:prstGeom prst="rect">
            <a:avLst/>
          </a:prstGeom>
        </p:spPr>
      </p:pic>
      <p:pic>
        <p:nvPicPr>
          <p:cNvPr id="34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96384" y="15441930"/>
            <a:ext cx="4000192" cy="3474720"/>
          </a:xfrm>
          <a:prstGeom prst="rect">
            <a:avLst/>
          </a:prstGeom>
        </p:spPr>
      </p:pic>
      <p:sp>
        <p:nvSpPr>
          <p:cNvPr id="35" name="Caption"/>
          <p:cNvSpPr txBox="1"/>
          <p:nvPr/>
        </p:nvSpPr>
        <p:spPr>
          <a:xfrm>
            <a:off x="24886920" y="19026378"/>
            <a:ext cx="10454640" cy="615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Shipped models B = b₀ + b₁ τ/T and ν = b T/τ − c (seed 20260531). Below T/τ ≈ 5–6 the interval is indicative only; σ itself is valid to the reach limit τ = T/4.</a:t>
            </a:r>
            <a:endParaRPr lang="en-US" sz="1950" dirty="0"/>
          </a:p>
        </p:txBody>
      </p:sp>
      <p:graphicFrame>
        <p:nvGraphicFramePr>
          <p:cNvPr id="3" name="MHTOTDEV coefficie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886920" y="19733133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27"/>
          <p:cNvSpPr/>
          <p:nvPr/>
        </p:nvSpPr>
        <p:spPr>
          <a:xfrm>
            <a:off x="24566880" y="22814661"/>
            <a:ext cx="11094720" cy="3634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8" name="Heading"/>
          <p:cNvSpPr txBox="1"/>
          <p:nvPr/>
        </p:nvSpPr>
        <p:spPr>
          <a:xfrm>
            <a:off x="24886920" y="2313470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by construction</a:t>
            </a:r>
            <a:endParaRPr lang="en-US" sz="3300" dirty="0"/>
          </a:p>
        </p:txBody>
      </p:sp>
      <p:sp>
        <p:nvSpPr>
          <p:cNvPr id="39" name="Bullets"/>
          <p:cNvSpPr txBox="1"/>
          <p:nvPr/>
        </p:nvSpPr>
        <p:spPr>
          <a:xfrm>
            <a:off x="24886920" y="23826978"/>
            <a:ext cx="10454640" cy="2283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with the code: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validation fixture with Stable32 and allantools outputs, the per-τ comparison tables, the benchmark scripts for both libraries, and the Monte Carlo harness with its seed and tracked fit artifact.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of the laboratory Rb-87 clock comparisons with the Hadamard family; Monte Carlo calibration of the Thêo family and of gapped records.</a:t>
            </a:r>
            <a:endParaRPr lang="en-US" sz="2400" dirty="0"/>
          </a:p>
        </p:txBody>
      </p:sp>
      <p:sp>
        <p:nvSpPr>
          <p:cNvPr id="40" name="Shape 30"/>
          <p:cNvSpPr/>
          <p:nvPr/>
        </p:nvSpPr>
        <p:spPr>
          <a:xfrm>
            <a:off x="914400" y="2706624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1" name="References A"/>
          <p:cNvSpPr txBox="1"/>
          <p:nvPr/>
        </p:nvSpPr>
        <p:spPr>
          <a:xfrm>
            <a:off x="914400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2" name="References B"/>
          <p:cNvSpPr txBox="1"/>
          <p:nvPr/>
        </p:nvSpPr>
        <p:spPr>
          <a:xfrm>
            <a:off x="13697712" y="27203400"/>
            <a:ext cx="125089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14th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3" name="Acknowledgments"/>
          <p:cNvSpPr txBox="1"/>
          <p:nvPr/>
        </p:nvSpPr>
        <p:spPr>
          <a:xfrm>
            <a:off x="26481024" y="27203400"/>
            <a:ext cx="91805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Documentation: ianlap.github.io/SigmaTau.jl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2026-10-26T11:22:01Z</dcterms:created>
  <dcterms:modified xsi:type="dcterms:W3CDTF">2026-10-26T11:22:01Z</dcterms:modified>
</cp:coreProperties>
</file>