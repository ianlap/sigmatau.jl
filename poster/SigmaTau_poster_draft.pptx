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6576000" cy="29260800"/>
  <p:notesSz cx="29260800" cy="3657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00" cy="3657600"/>
          </a:xfrm>
          <a:prstGeom prst="rect">
            <a:avLst/>
          </a:prstGeom>
          <a:solidFill>
            <a:srgbClr val="9E1B32"/>
          </a:solidFill>
          <a:ln w="12700">
            <a:solidFill>
              <a:srgbClr val="9E1B32"/>
            </a:solidFill>
            <a:prstDash val="solid"/>
          </a:ln>
        </p:spPr>
      </p:sp>
      <p:sp>
        <p:nvSpPr>
          <p:cNvPr id="3" name="Title"/>
          <p:cNvSpPr txBox="1"/>
          <p:nvPr/>
        </p:nvSpPr>
        <p:spPr>
          <a:xfrm>
            <a:off x="914400" y="320040"/>
            <a:ext cx="34747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stability with quantified uncertainty: per-τ noise identification, χ² intervals, and a calibrated modified-Hadamard total deviation</a:t>
            </a:r>
            <a:endParaRPr lang="en-US" sz="6000" dirty="0"/>
          </a:p>
        </p:txBody>
      </p:sp>
      <p:sp>
        <p:nvSpPr>
          <p:cNvPr id="4" name="Subtitle"/>
          <p:cNvSpPr txBox="1"/>
          <p:nvPr/>
        </p:nvSpPr>
        <p:spPr>
          <a:xfrm>
            <a:off x="914400" y="2286000"/>
            <a:ext cx="3474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SigmaTau.jl, an open and validated time-and-frequency stability library in Julia</a:t>
            </a:r>
            <a:endParaRPr lang="en-US" sz="3000" dirty="0"/>
          </a:p>
        </p:txBody>
      </p:sp>
      <p:sp>
        <p:nvSpPr>
          <p:cNvPr id="5" name="Authors"/>
          <p:cNvSpPr txBox="1"/>
          <p:nvPr/>
        </p:nvSpPr>
        <p:spPr>
          <a:xfrm>
            <a:off x="914400" y="2880360"/>
            <a:ext cx="3474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Ian Lapinski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The University of Alabama   ·   github.com/ianlap/SigmaTau.jl   ·   MIT license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4206240"/>
            <a:ext cx="11094720" cy="447929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7" name="Heading"/>
          <p:cNvSpPr txBox="1"/>
          <p:nvPr/>
        </p:nvSpPr>
        <p:spPr>
          <a:xfrm>
            <a:off x="1234440" y="4526280"/>
            <a:ext cx="1045464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clock record is finite, so every σ(τ) point is an estimate with an interval</a:t>
            </a:r>
            <a:endParaRPr lang="en-US" sz="3300" dirty="0"/>
          </a:p>
        </p:txBody>
      </p:sp>
      <p:sp>
        <p:nvSpPr>
          <p:cNvPr id="8" name="Body"/>
          <p:cNvSpPr txBox="1"/>
          <p:nvPr/>
        </p:nvSpPr>
        <p:spPr>
          <a:xfrm>
            <a:off x="1234440" y="5700522"/>
            <a:ext cx="10454640" cy="2646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 noise is power-law, S</a:t>
            </a:r>
            <a:pPr indent="0" marL="0">
              <a:buNone/>
            </a:pPr>
            <a:r>
              <a:rPr lang="en-US" sz="2400" baseline="-400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(f) ∝ f</a:t>
            </a:r>
            <a:pPr indent="0" marL="0">
              <a:buNone/>
            </a:pPr>
            <a:r>
              <a:rPr lang="en-US" sz="2400" baseline="300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α ∈ {+2, +1, 0, −1, −2} (white PM to random-walk FM). From N phase samples at spacing τ₀, the number of independent samples at averaging time τ = mτ₀ is not N/m: it depends on the noise type, on τ/T and on the estimator.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usable stability point therefore needs four quantities computed together: the deviation, the noise type at that τ, the equivalent degrees of freedom (EDF) and the χ² interval.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14400" y="9097010"/>
            <a:ext cx="11094720" cy="13606971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10" name="Heading"/>
          <p:cNvSpPr txBox="1"/>
          <p:nvPr/>
        </p:nvSpPr>
        <p:spPr>
          <a:xfrm>
            <a:off x="1234440" y="9417050"/>
            <a:ext cx="1045464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 returns deviation, noise type, EDF and interval at every τ</a:t>
            </a:r>
            <a:endParaRPr lang="en-US" sz="3300" dirty="0"/>
          </a:p>
        </p:txBody>
      </p:sp>
      <p:sp>
        <p:nvSpPr>
          <p:cNvPr id="11" name="Bullets"/>
          <p:cNvSpPr txBox="1"/>
          <p:nvPr/>
        </p:nvSpPr>
        <p:spPr>
          <a:xfrm>
            <a:off x="1234440" y="10591292"/>
            <a:ext cx="10454640" cy="5003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Estimators: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Allan, modified Allan, time; Hadamard, modified Hadamard, Hadamard time; five totals; Thêo1/ThêoBR/ThêoH; MTIE, TIE rms, PDEV; time-resolved and real-time variants.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type per τ: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lag-1 autocorrelation of the m-decimated, quadratically detrended phase differences, with the B1 / R(n) ratio as fallback.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EDF: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Greenhall–Riley 2003 for the difference families; the published total-variance tables (SP1065; Howe et al.) for TOTDEV, MTOTDEV and HTOTDEV, with documented fallbacks outside their ranges; Monte Carlo for MHTOTDEV (column 2).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χ² bounds on σ² with ν = EDF, 68.3 % by default. Total-family bias corrections are applied by default and switchable.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SP1065 and IEEE Std 1139-2022; every departure from a reference is a named, documented switch.</a:t>
            </a:r>
            <a:endParaRPr lang="en-US" sz="2400" dirty="0"/>
          </a:p>
        </p:txBody>
      </p:sp>
      <p:pic>
        <p:nvPicPr>
          <p:cNvPr id="12" name="F1_suite" descr="/home/user/SigmaTau.jl/poster/figures/F1_su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44318" y="15704820"/>
            <a:ext cx="7634883" cy="5669280"/>
          </a:xfrm>
          <a:prstGeom prst="rect">
            <a:avLst/>
          </a:prstGeom>
        </p:spPr>
      </p:pic>
      <p:sp>
        <p:nvSpPr>
          <p:cNvPr id="13" name="Caption"/>
          <p:cNvSpPr txBox="1"/>
          <p:nvPr/>
        </p:nvSpPr>
        <p:spPr>
          <a:xfrm>
            <a:off x="1234440" y="21483828"/>
            <a:ext cx="10454640" cy="900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1. Deviation suite on the shipped 8192-point validation record (τ₀ = 1 s) with 68.3 % χ² intervals. MDEV rolls white PM off as τ</a:t>
            </a:r>
            <a:pPr indent="0" marL="0">
              <a:buNone/>
            </a:pPr>
            <a:r>
              <a:rPr lang="en-US" sz="1950" baseline="30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−3/2</a:t>
            </a:r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separates it from flicker PM; the totals reach τ = T/4 with tighter long-τ intervals.</a:t>
            </a:r>
            <a:endParaRPr lang="en-US" sz="1950" dirty="0"/>
          </a:p>
        </p:txBody>
      </p:sp>
      <p:sp>
        <p:nvSpPr>
          <p:cNvPr id="14" name="Shape 11"/>
          <p:cNvSpPr/>
          <p:nvPr/>
        </p:nvSpPr>
        <p:spPr>
          <a:xfrm>
            <a:off x="914400" y="23115461"/>
            <a:ext cx="11094720" cy="363410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15" name="Heading"/>
          <p:cNvSpPr txBox="1"/>
          <p:nvPr/>
        </p:nvSpPr>
        <p:spPr>
          <a:xfrm>
            <a:off x="1234440" y="23435501"/>
            <a:ext cx="10454640" cy="527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and multi-clock use</a:t>
            </a:r>
            <a:endParaRPr lang="en-US" sz="3300" dirty="0"/>
          </a:p>
        </p:txBody>
      </p:sp>
      <p:sp>
        <p:nvSpPr>
          <p:cNvPr id="16" name="Bullets"/>
          <p:cNvSpPr txBox="1"/>
          <p:nvPr/>
        </p:nvSpPr>
        <p:spPr>
          <a:xfrm>
            <a:off x="1234440" y="24127778"/>
            <a:ext cx="10454640" cy="2283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ADEV, MDEV, HDEV and MHDEV accumulate in O(1) per sample per τ (Dobrogowski–Kasznia 2007, extended to third differences) from a ring buffer of at most 4·m</a:t>
            </a:r>
            <a:pPr indent="0" marL="0">
              <a:buNone/>
            </a:pPr>
            <a:r>
              <a:rPr lang="en-US" sz="2400" baseline="-400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+ 1 samples; the running deviation equals the batch kernel on the samples seen so far.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Time-resolved and ensemble: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σ(t, τ) maps for non-stationary records; N-cornered hat for N ≥ 3 clocks with independent noises.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12740640" y="4206240"/>
            <a:ext cx="11094720" cy="909656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18" name="Heading"/>
          <p:cNvSpPr txBox="1"/>
          <p:nvPr/>
        </p:nvSpPr>
        <p:spPr>
          <a:xfrm>
            <a:off x="13060680" y="4526280"/>
            <a:ext cx="1045464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MHTOTDEV: a modified-Hadamard total deviation with no published coefficients</a:t>
            </a:r>
            <a:endParaRPr lang="en-US" sz="3300" dirty="0"/>
          </a:p>
        </p:txBody>
      </p:sp>
      <p:sp>
        <p:nvSpPr>
          <p:cNvPr id="19" name="Body"/>
          <p:cNvSpPr txBox="1"/>
          <p:nvPr/>
        </p:nvSpPr>
        <p:spPr>
          <a:xfrm>
            <a:off x="13060680" y="5700522"/>
            <a:ext cx="10454640" cy="1844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Hadamard (third-difference) family rejects linear frequency drift; the modified form separates white from flicker PM; the total form extends each window by reflection to recover confidence at long τ. MHTOTDEV combines all three. Every other total estimator inherits a published bias and EDF table; this one had none, so both were measured.</a:t>
            </a:r>
            <a:endParaRPr lang="en-US" sz="2400" dirty="0"/>
          </a:p>
        </p:txBody>
      </p:sp>
      <p:pic>
        <p:nvPicPr>
          <p:cNvPr id="20" name="F6_mhtot_construction" descr="/home/user/SigmaTau.jl/poster/figures/F6_mhtot_construc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3979" y="7654290"/>
            <a:ext cx="5108042" cy="3749040"/>
          </a:xfrm>
          <a:prstGeom prst="rect">
            <a:avLst/>
          </a:prstGeom>
        </p:spPr>
      </p:pic>
      <p:sp>
        <p:nvSpPr>
          <p:cNvPr id="21" name="Caption"/>
          <p:cNvSpPr txBox="1"/>
          <p:nvPr/>
        </p:nvSpPr>
        <p:spPr>
          <a:xfrm>
            <a:off x="13060680" y="11513058"/>
            <a:ext cx="10454640" cy="1469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2. Construction (Greenhall scheme, as for MTOTDEV and HTOTDEV): each of the N − 4m + 1 windows of length L = 4m has its half-mean slope removed and is extended by two time-reversed copies; the third difference at lag m is averaged over m positions, squared, normalised by 6m²τ² and averaged over all windows. The public call first removes the record's least-squares frequency drift.</a:t>
            </a:r>
            <a:endParaRPr lang="en-US" sz="1950" dirty="0"/>
          </a:p>
        </p:txBody>
      </p:sp>
      <p:sp>
        <p:nvSpPr>
          <p:cNvPr id="22" name="Shape 18"/>
          <p:cNvSpPr/>
          <p:nvPr/>
        </p:nvSpPr>
        <p:spPr>
          <a:xfrm>
            <a:off x="12740640" y="13714285"/>
            <a:ext cx="11094720" cy="1323695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23" name="Heading"/>
          <p:cNvSpPr txBox="1"/>
          <p:nvPr/>
        </p:nvSpPr>
        <p:spPr>
          <a:xfrm>
            <a:off x="13060680" y="14034325"/>
            <a:ext cx="1045464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against synthesized noise measures both the bias and the EDF</a:t>
            </a:r>
            <a:endParaRPr lang="en-US" sz="3300" dirty="0"/>
          </a:p>
        </p:txBody>
      </p:sp>
      <p:sp>
        <p:nvSpPr>
          <p:cNvPr id="24" name="Bullets"/>
          <p:cNvSpPr txBox="1"/>
          <p:nvPr/>
        </p:nvSpPr>
        <p:spPr>
          <a:xfrm>
            <a:off x="13060680" y="15208567"/>
            <a:ext cx="10454640" cy="412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∈ {+2, +1, 0, −1, −2}; N ∈ {1024, …, 32768}; octave m grid; R = 3000 realizations per cell; one independent random stream per (seed, α, N, r). The statistic calibrated is the shipped pipeline, including its default drift removal.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MHDEV on the same realization (its EDF follows from the Greenhall–Riley spectral sum). Bias B = E[MHTOTVAR] / E[MHVAR]; EDF = 2 mean(V)</a:t>
            </a:r>
            <a:pPr indent="0" marL="0">
              <a:buNone/>
            </a:pPr>
            <a:r>
              <a:rPr lang="en-US" sz="2400" baseline="300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var(V), bootstrap standard error ≈ √(2/R) = 2.6 %.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τ/τ₀ ≥ 16, the validity window of the total-variance literature. EDF ν = b T/τ − c (Mod-Totvar; the TotHvar form is better by at most ΔR² = 8 × 10⁻⁴, at α = ±2) and bias B = b₀ + b₁ τ/T, both by weighted least squares.</a:t>
            </a:r>
            <a:endParaRPr lang="en-US" sz="2400" dirty="0"/>
          </a:p>
        </p:txBody>
      </p:sp>
      <p:pic>
        <p:nvPicPr>
          <p:cNvPr id="25" name="F4_mhtot_bias" descr="/home/user/SigmaTau.jl/poster/figures/F4_mhtot_bia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77222" y="19443255"/>
            <a:ext cx="4057075" cy="3520440"/>
          </a:xfrm>
          <a:prstGeom prst="rect">
            <a:avLst/>
          </a:prstGeom>
        </p:spPr>
      </p:pic>
      <p:pic>
        <p:nvPicPr>
          <p:cNvPr id="26" name="F5_mhtot_edf" descr="/home/user/SigmaTau.jl/poster/figures/F5_mhtot_ed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43827" y="19443255"/>
            <a:ext cx="4052826" cy="3520440"/>
          </a:xfrm>
          <a:prstGeom prst="rect">
            <a:avLst/>
          </a:prstGeom>
        </p:spPr>
      </p:pic>
      <p:sp>
        <p:nvSpPr>
          <p:cNvPr id="27" name="Caption"/>
          <p:cNvSpPr txBox="1"/>
          <p:nvPr/>
        </p:nvSpPr>
        <p:spPr>
          <a:xfrm>
            <a:off x="13060680" y="23073423"/>
            <a:ext cx="10454640" cy="1184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3. Shipped models. Left: ≈ unbiased for the PM noises, reads high for red FM (B ≈ 2.2 for random-walk FM at small τ/T). Right: EDF, R² ≥ 0.9982 for every α; below T/τ ≈ 5–6 the interval is indicative only, while σ itself is valid to the reach limit τ = T/4. Table: shipped coefficients (seed 20260531, R = 3000, N ≤ 32768).</a:t>
            </a:r>
            <a:endParaRPr lang="en-US" sz="1950" dirty="0"/>
          </a:p>
        </p:txBody>
      </p:sp>
      <p:graphicFrame>
        <p:nvGraphicFramePr>
          <p:cNvPr id="2" name="Coefficien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060680" y="24349773"/>
          <a:ext cx="10454640" cy="914400"/>
        </p:xfrm>
        <a:graphic>
          <a:graphicData uri="http://schemas.openxmlformats.org/drawingml/2006/table">
            <a:tbl>
              <a:tblPr/>
              <a:tblGrid>
                <a:gridCol w="871220"/>
                <a:gridCol w="2516858"/>
                <a:gridCol w="1452033"/>
                <a:gridCol w="1548836"/>
                <a:gridCol w="1355231"/>
                <a:gridCol w="1355231"/>
                <a:gridCol w="1355231"/>
              </a:tblGrid>
              <a:tr h="3771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bias b₀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bias b₁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EDF b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EDF c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EDF R²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 PM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1.0308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−0.1197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1.6869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4.3166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flicker PM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0.9883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−0.0686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1.1671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3.2107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 FM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1.0545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−0.1706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1.0861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3.3451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flicker FM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1.2947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−0.7193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1.0095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3.3254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random-walk FM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2.1686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−5.5884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0.7631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2.4490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22"/>
          <p:cNvSpPr/>
          <p:nvPr/>
        </p:nvSpPr>
        <p:spPr>
          <a:xfrm>
            <a:off x="24566880" y="4206240"/>
            <a:ext cx="11094720" cy="1047769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30" name="Heading"/>
          <p:cNvSpPr txBox="1"/>
          <p:nvPr/>
        </p:nvSpPr>
        <p:spPr>
          <a:xfrm>
            <a:off x="24886920" y="4526280"/>
            <a:ext cx="1045464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with Stable32 to its printed precision and with allantools to 10⁻¹³</a:t>
            </a:r>
            <a:endParaRPr lang="en-US" sz="3300" dirty="0"/>
          </a:p>
        </p:txBody>
      </p:sp>
      <p:sp>
        <p:nvSpPr>
          <p:cNvPr id="31" name="Body"/>
          <p:cNvSpPr txBox="1"/>
          <p:nvPr/>
        </p:nvSpPr>
        <p:spPr>
          <a:xfrm>
            <a:off x="24886920" y="5700522"/>
            <a:ext cx="104546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shipped 8192-point record, ADEV, MDEV, TDEV and HDEV match Stable32 to ≤ 0.005 % (its five-significant-figure output) and allantools to ≤ 1 × 10⁻¹³; the raw total kernels match allantools to ≤ 4.4 × 10⁻¹⁵. Confidence bounds agree with Stable32 to ≤ 0.05 % at 11 of 12 τ. The one recurring residual is a convention: at τ = 256 s Stable32 assigns α = +2 where the detrended identifier assigns α = 0; one keyword reproduces Stable32 at every τ. Estimators neither reference implements (MHDEV, HTDEV, MHTOTDEV, ThêoH, nch, dynamic, streaming) are checked against inlined textbook kernels and algebraic identities.</a:t>
            </a:r>
            <a:endParaRPr lang="en-US" sz="2400" dirty="0"/>
          </a:p>
        </p:txBody>
      </p:sp>
      <p:pic>
        <p:nvPicPr>
          <p:cNvPr id="32" name="F2_validation" descr="/home/user/SigmaTau.jl/poster/figures/F2_validatio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97398" y="9056370"/>
            <a:ext cx="7633683" cy="4297680"/>
          </a:xfrm>
          <a:prstGeom prst="rect">
            <a:avLst/>
          </a:prstGeom>
        </p:spPr>
      </p:pic>
      <p:sp>
        <p:nvSpPr>
          <p:cNvPr id="33" name="Caption"/>
          <p:cNvSpPr txBox="1"/>
          <p:nvPr/>
        </p:nvSpPr>
        <p:spPr>
          <a:xfrm>
            <a:off x="24886920" y="13463778"/>
            <a:ext cx="10454640" cy="900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4. Relative difference to Stable32 at every τ for seven estimators. Filled points lie at or below the 5 × 10⁻⁵ floor set by Stable32's printed precision; open points are the τ = 256 s convention. MTOTDEV is compared raw, as Stable32 reports the uncorrected statistic.</a:t>
            </a:r>
            <a:endParaRPr lang="en-US" sz="1950" dirty="0"/>
          </a:p>
        </p:txBody>
      </p:sp>
      <p:sp>
        <p:nvSpPr>
          <p:cNvPr id="34" name="Shape 26"/>
          <p:cNvSpPr/>
          <p:nvPr/>
        </p:nvSpPr>
        <p:spPr>
          <a:xfrm>
            <a:off x="24566880" y="15095410"/>
            <a:ext cx="11094720" cy="8618411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35" name="Heading"/>
          <p:cNvSpPr txBox="1"/>
          <p:nvPr/>
        </p:nvSpPr>
        <p:spPr>
          <a:xfrm>
            <a:off x="24886920" y="15415450"/>
            <a:ext cx="1045464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Modified-total analysis of a day-long record takes seconds, not half an hour</a:t>
            </a:r>
            <a:endParaRPr lang="en-US" sz="3300" dirty="0"/>
          </a:p>
        </p:txBody>
      </p:sp>
      <p:sp>
        <p:nvSpPr>
          <p:cNvPr id="36" name="Body"/>
          <p:cNvSpPr txBox="1"/>
          <p:nvPr/>
        </p:nvSpPr>
        <p:spPr>
          <a:xfrm>
            <a:off x="24886920" y="16589692"/>
            <a:ext cx="10454640" cy="1844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samples, same τ grid, same statistic; allantools is single-threaded as it has no parallel path. On a measured 406 763-sample phase record MTOTDEV takes 0.469 s against 1 803.6 s. The gap is algorithmic as well as compiled-versus-interpreted: the reflected extension is streamed through a per-thread buffer and the window sum is split across threads.</a:t>
            </a:r>
            <a:endParaRPr lang="en-US" sz="2400" dirty="0"/>
          </a:p>
        </p:txBody>
      </p:sp>
      <p:pic>
        <p:nvPicPr>
          <p:cNvPr id="37" name="F3_speed" descr="/home/user/SigmaTau.jl/poster/figures/F3_spe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87681" y="18543461"/>
            <a:ext cx="6853118" cy="3840480"/>
          </a:xfrm>
          <a:prstGeom prst="rect">
            <a:avLst/>
          </a:prstGeom>
        </p:spPr>
      </p:pic>
      <p:sp>
        <p:nvSpPr>
          <p:cNvPr id="38" name="Caption"/>
          <p:cNvSpPr txBox="1"/>
          <p:nvPr/>
        </p:nvSpPr>
        <p:spPr>
          <a:xfrm>
            <a:off x="24886920" y="22493669"/>
            <a:ext cx="10454640" cy="900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5. Kernel-only speed-up (no intervals, raw totals) on an N = 25 000 white-PM record (bench/, mean of 30 realizations, 12 cores; diamonds: independent 4-core re-run). Ratios are the portable result; absolute times depend on the machine.</a:t>
            </a:r>
            <a:endParaRPr lang="en-US" sz="1950" dirty="0"/>
          </a:p>
        </p:txBody>
      </p:sp>
      <p:sp>
        <p:nvSpPr>
          <p:cNvPr id="39" name="Shape 30"/>
          <p:cNvSpPr/>
          <p:nvPr/>
        </p:nvSpPr>
        <p:spPr>
          <a:xfrm>
            <a:off x="24566880" y="24125301"/>
            <a:ext cx="11094720" cy="293306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40" name="Heading"/>
          <p:cNvSpPr txBox="1"/>
          <p:nvPr/>
        </p:nvSpPr>
        <p:spPr>
          <a:xfrm>
            <a:off x="24886920" y="24445341"/>
            <a:ext cx="10454640" cy="527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3300" dirty="0"/>
          </a:p>
        </p:txBody>
      </p:sp>
      <p:sp>
        <p:nvSpPr>
          <p:cNvPr id="41" name="Bullets"/>
          <p:cNvSpPr txBox="1"/>
          <p:nvPr/>
        </p:nvSpPr>
        <p:spPr>
          <a:xfrm>
            <a:off x="24886920" y="25137618"/>
            <a:ext cx="10454640" cy="1582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records: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drift-tolerant Hadamard family and the real-time accumulators to the Rb-87 clock comparisons.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Monte Carlo method to the Thêo family and gapped records.</a:t>
            </a:r>
            <a:endParaRPr lang="en-US" sz="2400" dirty="0"/>
          </a:p>
        </p:txBody>
      </p:sp>
      <p:sp>
        <p:nvSpPr>
          <p:cNvPr id="42" name="Shape 33"/>
          <p:cNvSpPr/>
          <p:nvPr/>
        </p:nvSpPr>
        <p:spPr>
          <a:xfrm>
            <a:off x="914400" y="27066240"/>
            <a:ext cx="34747200" cy="0"/>
          </a:xfrm>
          <a:prstGeom prst="line">
            <a:avLst/>
          </a:prstGeom>
          <a:noFill/>
          <a:ln w="19050">
            <a:solidFill>
              <a:srgbClr val="D9D4D0"/>
            </a:solidFill>
            <a:prstDash val="solid"/>
          </a:ln>
        </p:spPr>
      </p:sp>
      <p:sp>
        <p:nvSpPr>
          <p:cNvPr id="43" name="References A"/>
          <p:cNvSpPr txBox="1"/>
          <p:nvPr/>
        </p:nvSpPr>
        <p:spPr>
          <a:xfrm>
            <a:off x="914400" y="27203400"/>
            <a:ext cx="125089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W. J. Riley, Handbook of Frequency Stability Analysis, NIST SP 1065 (2008).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IEEE Std 1139-2022, Standard Definitions of Physical Quantities for Fundamental Frequency and Time Metrology.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C. A. Greenhall and W. J. Riley, Uncertainty of stability variances based on finite differences, Proc. 35th PTTI (2003).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D. A. Howe, R. L. Beard, C. A. Greenhall, F. Vernotte and W. J. Riley, A total estimator of the Hadamard function used for GPS operations, Proc. 32nd PTTI (2000).</a:t>
            </a:r>
            <a:endParaRPr lang="en-US" sz="1500" dirty="0"/>
          </a:p>
        </p:txBody>
      </p:sp>
      <p:sp>
        <p:nvSpPr>
          <p:cNvPr id="44" name="References B"/>
          <p:cNvSpPr txBox="1"/>
          <p:nvPr/>
        </p:nvSpPr>
        <p:spPr>
          <a:xfrm>
            <a:off x="13697712" y="27203400"/>
            <a:ext cx="125089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F. Vernotte and D. A. Howe, Generalization of the total variance approach to the different classes of structure functions, Proc. EFTF (2000).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A. Dobrogowski and M. Kasznia, Real-time assessment of Allan deviation and time deviation, Proc. IEEE FCS / EFTF (2007).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Reference implementations compared: Stable32 (W. J. Riley) and allantools (A. E. Wallin).</a:t>
            </a:r>
            <a:endParaRPr lang="en-US" sz="1500" dirty="0"/>
          </a:p>
        </p:txBody>
      </p:sp>
      <p:sp>
        <p:nvSpPr>
          <p:cNvPr id="45" name="Acknowledgments"/>
          <p:cNvSpPr txBox="1"/>
          <p:nvPr/>
        </p:nvSpPr>
        <p:spPr>
          <a:xfrm>
            <a:off x="26481024" y="27203400"/>
            <a:ext cx="918057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Acknowledgments: [funding / program / advisor placeholder]. Validation fixtures, benchmark scripts and the Monte Carlo harness are in the repository.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SigmaTau.jl poster draft</dc:title>
  <dc:subject>PptxGenJS Presentation</dc:subject>
  <dc:creator>Ian Lapinski</dc:creator>
  <cp:lastModifiedBy>Ian Lapinski</cp:lastModifiedBy>
  <cp:revision>1</cp:revision>
  <dcterms:created xsi:type="dcterms:W3CDTF">2026-10-26T11:12:59Z</dcterms:created>
  <dcterms:modified xsi:type="dcterms:W3CDTF">2026-10-26T11:12:59Z</dcterms:modified>
</cp:coreProperties>
</file>